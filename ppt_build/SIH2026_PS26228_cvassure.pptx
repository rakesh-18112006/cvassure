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 wrap="square"/>
          <a:lstStyle/>
          <a:p>
            <a:pPr eaLnBrk="1" hangingPunct="1" algn="ctr"/>
            <a:r>
              <a:rPr sz="2600" b="1" i="0">
                <a:solidFill>
                  <a:srgbClr val="13294B"/>
                </a:solidFill>
                <a:latin typeface="Cambria"/>
              </a:rPr>
              <a:t>CVASSURE  —  INTEGRITY YOU CAN PROVE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9184" y="1042415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5A6472"/>
                </a:solidFill>
                <a:latin typeface="Calibri"/>
              </a:rPr>
              <a:t>Prove the data, the model and the answer — offline, for computer-vision pipelines fed by many contributors   ·   PS 26228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9184" y="1389888"/>
            <a:ext cx="5532120" cy="303580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Oval 15363"/>
          <p:cNvSpPr/>
          <p:nvPr/>
        </p:nvSpPr>
        <p:spPr>
          <a:xfrm>
            <a:off x="512064" y="1549907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704088" y="1499616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704088" y="1755648"/>
            <a:ext cx="4983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 i="1">
                <a:solidFill>
                  <a:srgbClr val="5A6472"/>
                </a:solidFill>
                <a:latin typeface="Calibri"/>
              </a:rPr>
              <a:t>Three questions, answered before anything goes into service: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603503" y="2048256"/>
            <a:ext cx="5074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1.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Was the training data tampered with — and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who sent it?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2.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Is this the model we were given, or has it been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swapped or edited?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30" b="1" i="0">
                <a:solidFill>
                  <a:srgbClr val="1C7293"/>
                </a:solidFill>
                <a:latin typeface="Calibri"/>
              </a:rPr>
              <a:t>3.  </a:t>
            </a:r>
            <a:r>
              <a:rPr sz="1230" b="0" i="0">
                <a:solidFill>
                  <a:srgbClr val="1A1A1A"/>
                </a:solidFill>
                <a:latin typeface="Calibri"/>
              </a:rPr>
              <a:t>Is the record of what the model answered </a:t>
            </a:r>
            <a:r>
              <a:rPr sz="1230" b="1" i="0">
                <a:solidFill>
                  <a:srgbClr val="13294B"/>
                </a:solidFill>
                <a:latin typeface="Calibri"/>
              </a:rPr>
              <a:t>trustworthy?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03503" y="3200400"/>
            <a:ext cx="4160520" cy="292608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cvassure audit --dataset data/ --model m.onnx --out results/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03503" y="3602736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7F4B"/>
                </a:solidFill>
                <a:latin typeface="Calibri"/>
              </a:rPr>
              <a:t>One command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 →  one self-contained HTML report, a traffic-light verdict, and a coverage table that also lists what we </a:t>
            </a:r>
            <a:r>
              <a:rPr sz="1200" b="1" i="0">
                <a:solidFill>
                  <a:srgbClr val="C0392B"/>
                </a:solidFill>
                <a:latin typeface="Calibri"/>
              </a:rPr>
              <a:t>cannot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detect.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108192" y="1389888"/>
            <a:ext cx="5751576" cy="1453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1" name="Oval 15370"/>
          <p:cNvSpPr/>
          <p:nvPr/>
        </p:nvSpPr>
        <p:spPr>
          <a:xfrm>
            <a:off x="6291072" y="1540763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TextBox 15371"/>
          <p:cNvSpPr txBox="1"/>
          <p:nvPr/>
        </p:nvSpPr>
        <p:spPr>
          <a:xfrm>
            <a:off x="6483096" y="1490472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How it addresses the problem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6364224" y="1773936"/>
            <a:ext cx="53583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Names the source, not 900 files.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Beta-Binomial risk per contributor — an order an officer can act 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Works black-box.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Detects a swapped model from its answers alone; refuses checks above the tier.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Proof for the log.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Signed, hash-chained receipts — cryptography, not statistics.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6108192" y="2971800"/>
            <a:ext cx="5751576" cy="1536192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5" name="Oval 15374"/>
          <p:cNvSpPr/>
          <p:nvPr/>
        </p:nvSpPr>
        <p:spPr>
          <a:xfrm>
            <a:off x="6291072" y="3122676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6483096" y="3072384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Innovation and uniqueness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6364224" y="3337560"/>
            <a:ext cx="5358384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Plain English, enforced in code.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A finding with jargon or no number is rejected at construction.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The detectors cannot see the answer key.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A test reads the source and fails the build if they could.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60" b="1" i="0">
                <a:solidFill>
                  <a:srgbClr val="B06F00"/>
                </a:solidFill>
                <a:latin typeface="Calibri"/>
              </a:rPr>
              <a:t>▸ </a:t>
            </a:r>
            <a:r>
              <a:rPr sz="1060" b="1" i="0">
                <a:solidFill>
                  <a:srgbClr val="13294B"/>
                </a:solidFill>
                <a:latin typeface="Calibri"/>
              </a:rPr>
              <a:t>It publishes its own weaknesses.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Coverage is generated from measurements, never hand-written.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329184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420623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7F4B"/>
                </a:solidFill>
                <a:latin typeface="Cambria"/>
              </a:rPr>
              <a:t>1.00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02336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duplicate floods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foreign images caught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2715768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2" name="TextBox 15381"/>
          <p:cNvSpPr txBox="1"/>
          <p:nvPr/>
        </p:nvSpPr>
        <p:spPr>
          <a:xfrm>
            <a:off x="2807208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7F4B"/>
                </a:solidFill>
                <a:latin typeface="Cambria"/>
              </a:rPr>
              <a:t>0.93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2788920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pasted markers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label flips caught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5102352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TextBox 15384"/>
          <p:cNvSpPr txBox="1"/>
          <p:nvPr/>
        </p:nvSpPr>
        <p:spPr>
          <a:xfrm>
            <a:off x="5193792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294B"/>
                </a:solidFill>
                <a:latin typeface="Cambria"/>
              </a:rPr>
              <a:t>100%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5175504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log tampering caught,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right failure named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7488936" y="4572000"/>
            <a:ext cx="2212848" cy="1170432"/>
          </a:xfrm>
          <a:prstGeom prst="roundRect">
            <a:avLst/>
          </a:prstGeom>
          <a:solidFill>
            <a:srgbClr val="FDF0EE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8" name="TextBox 15387"/>
          <p:cNvSpPr txBox="1"/>
          <p:nvPr/>
        </p:nvSpPr>
        <p:spPr>
          <a:xfrm>
            <a:off x="7580375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0392B"/>
                </a:solidFill>
                <a:latin typeface="Cambria"/>
              </a:rPr>
              <a:t>0.20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7562088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blended triggers — we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report this as a gap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9875519" y="4572000"/>
            <a:ext cx="2212848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1" name="TextBox 15390"/>
          <p:cNvSpPr txBox="1"/>
          <p:nvPr/>
        </p:nvSpPr>
        <p:spPr>
          <a:xfrm>
            <a:off x="9966959" y="4663440"/>
            <a:ext cx="2029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7293"/>
                </a:solidFill>
                <a:latin typeface="Cambria"/>
              </a:rPr>
              <a:t>301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9948672" y="5120640"/>
            <a:ext cx="206654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tests  ·  0 network calls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Calibri"/>
              </a:rPr>
              <a:t>270 measured cells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329184" y="585216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0" b="0" i="1">
                <a:solidFill>
                  <a:srgbClr val="5A6472"/>
                </a:solidFill>
                <a:latin typeface="Calibri"/>
              </a:rPr>
              <a:t>Measured over 270 swept cells (6 attacks × 5 poison rates × 3 access tiers × 3 seeds) plus 12 tampering attempts — graded on the median cell, never the best.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47572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97280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Technologies to be used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421892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225295" y="140817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Python 3.11  ·  NumPy  ·  SciPy  ·  scikit-learn  ·  Pillow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1700784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225295" y="16870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PyTorch / TorchScript  ·  ONNX Runtime  ·  bundled ResNet-18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1979676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Crypto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225295" y="1965960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Ed25519 (cryptography)  ·  SHA-256 hash chains  ·  pHash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9184" y="2258568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Formats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225295" y="2244852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COCO  ·  YOLO  ·  ImageFolder   |   ONNX  ·  TorchScript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2537460"/>
            <a:ext cx="786384" cy="214884"/>
          </a:xfrm>
          <a:prstGeom prst="roundRect">
            <a:avLst>
              <a:gd name="adj" fmla="val 50000"/>
            </a:avLst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225295" y="2523744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A1A1A"/>
                </a:solidFill>
                <a:latin typeface="Calibri"/>
              </a:rPr>
              <a:t>Matplotlib  ·  Jinja2  ·  single-file offline HTML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446520" y="1147572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638544" y="1097280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Access tiers — declared, and enforced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46520" y="1389888"/>
            <a:ext cx="5413248" cy="1389888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6583680" y="1499616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0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333488" y="1490472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7F4B"/>
                </a:solidFill>
                <a:latin typeface="Calibri"/>
              </a:rPr>
              <a:t>answers only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fingerprint + every data check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583680" y="1760219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1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333488" y="1751075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7293"/>
                </a:solidFill>
                <a:latin typeface="Calibri"/>
              </a:rPr>
              <a:t>+ weights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per-layer digest, weight statistics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583680" y="2020823"/>
            <a:ext cx="658368" cy="20574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Tier 2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333488" y="2011679"/>
            <a:ext cx="44074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294B"/>
                </a:solidFill>
                <a:latin typeface="Calibri"/>
              </a:rPr>
              <a:t>+ internals</a:t>
            </a:r>
            <a:r>
              <a:rPr sz="1050" b="0" i="0">
                <a:solidFill>
                  <a:srgbClr val="5A6472"/>
                </a:solidFill>
                <a:latin typeface="Calibri"/>
              </a:rPr>
              <a:t>  →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spectral signature, trigger reconstruction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583680" y="2313432"/>
            <a:ext cx="513892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B06F00"/>
                </a:solidFill>
                <a:latin typeface="Calibri"/>
              </a:rPr>
              <a:t>The handle refuses anything above the declared tier — even when the file format would allow it.</a:t>
            </a:r>
          </a:p>
        </p:txBody>
      </p:sp>
      <p:sp>
        <p:nvSpPr>
          <p:cNvPr id="17432" name="Oval 17431"/>
          <p:cNvSpPr/>
          <p:nvPr/>
        </p:nvSpPr>
        <p:spPr>
          <a:xfrm>
            <a:off x="329184" y="2994660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21207" y="2944368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Methodology — one pass over the intake, then one report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29184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42062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3294B"/>
                </a:solidFill>
                <a:latin typeface="Cambria"/>
              </a:rPr>
              <a:t>1  INGEST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0233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COCO · YOLO · folder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ONNX · TorchScript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signed receipt log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238201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2660903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TextBox 17438"/>
          <p:cNvSpPr txBox="1"/>
          <p:nvPr/>
        </p:nvSpPr>
        <p:spPr>
          <a:xfrm>
            <a:off x="2752344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C7293"/>
                </a:solidFill>
                <a:latin typeface="Cambria"/>
              </a:rPr>
              <a:t>2  CHECK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273405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data · model · shift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eleven detectors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graceful at every tier</a:t>
            </a:r>
          </a:p>
        </p:txBody>
      </p:sp>
      <p:sp>
        <p:nvSpPr>
          <p:cNvPr id="17441" name="Right Arrow 17440"/>
          <p:cNvSpPr/>
          <p:nvPr/>
        </p:nvSpPr>
        <p:spPr>
          <a:xfrm>
            <a:off x="4713731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4992624" y="3255264"/>
            <a:ext cx="2002536" cy="1033271"/>
          </a:xfrm>
          <a:prstGeom prst="roundRect">
            <a:avLst/>
          </a:prstGeom>
          <a:solidFill>
            <a:srgbClr val="FDF0EE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5084064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C0392B"/>
                </a:solidFill>
                <a:latin typeface="Cambria"/>
              </a:rPr>
              <a:t>3  AGGREGATE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506577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per-contributor risk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Beta-Binomial interval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accept / review / quarantine</a:t>
            </a:r>
          </a:p>
        </p:txBody>
      </p:sp>
      <p:sp>
        <p:nvSpPr>
          <p:cNvPr id="17445" name="Right Arrow 17444"/>
          <p:cNvSpPr/>
          <p:nvPr/>
        </p:nvSpPr>
        <p:spPr>
          <a:xfrm>
            <a:off x="704545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Rounded Rectangle 17445"/>
          <p:cNvSpPr/>
          <p:nvPr/>
        </p:nvSpPr>
        <p:spPr>
          <a:xfrm>
            <a:off x="7324344" y="3255264"/>
            <a:ext cx="2002536" cy="1033271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TextBox 17446"/>
          <p:cNvSpPr txBox="1"/>
          <p:nvPr/>
        </p:nvSpPr>
        <p:spPr>
          <a:xfrm>
            <a:off x="741578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3294B"/>
                </a:solidFill>
                <a:latin typeface="Cambria"/>
              </a:rPr>
              <a:t>4  SCORE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7397496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AUROC · TPR@1%FPR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ECE + calibration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bootstrap intervals</a:t>
            </a:r>
          </a:p>
        </p:txBody>
      </p:sp>
      <p:sp>
        <p:nvSpPr>
          <p:cNvPr id="17449" name="Right Arrow 17448"/>
          <p:cNvSpPr/>
          <p:nvPr/>
        </p:nvSpPr>
        <p:spPr>
          <a:xfrm>
            <a:off x="9377172" y="3680460"/>
            <a:ext cx="228600" cy="18288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9656063" y="3255264"/>
            <a:ext cx="2002536" cy="1033271"/>
          </a:xfrm>
          <a:prstGeom prst="roundRect">
            <a:avLst/>
          </a:prstGeom>
          <a:solidFill>
            <a:srgbClr val="EAF5EF"/>
          </a:solidFill>
          <a:ln w="22225">
            <a:solidFill>
              <a:srgbClr val="1A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9747503" y="3337560"/>
            <a:ext cx="18196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A7F4B"/>
                </a:solidFill>
                <a:latin typeface="Cambria"/>
              </a:rPr>
              <a:t>5  REPORT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729215" y="3602736"/>
            <a:ext cx="1856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traffic-light verdict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coverage + limitations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40" b="0" i="0">
                <a:solidFill>
                  <a:srgbClr val="1A1A1A"/>
                </a:solidFill>
                <a:latin typeface="Calibri"/>
              </a:rPr>
              <a:t>hash-chained audit log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329184" y="4416551"/>
            <a:ext cx="11530584" cy="65836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493776" y="4498847"/>
            <a:ext cx="11201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 i="0">
                <a:solidFill>
                  <a:srgbClr val="13294B"/>
                </a:solidFill>
                <a:latin typeface="Calibri"/>
              </a:rPr>
              <a:t>Validated blind:  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a seeded attack harness poisons the data and keeps the answer key in a separate folder.  </a:t>
            </a:r>
            <a:r>
              <a:rPr sz="1080" b="1" i="0">
                <a:solidFill>
                  <a:srgbClr val="C0392B"/>
                </a:solidFill>
                <a:latin typeface="Calibri"/>
              </a:rPr>
              <a:t>detect/ cannot import attack/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— a test reads the source and fails the build if it ever could.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6472"/>
                </a:solidFill>
                <a:latin typeface="Calibri"/>
              </a:rPr>
              <a:t>No retraining anywhere in the audit (PS 2.2.6)  ·  --offline-assert replaces the socket layer and fails the run if anything reaches the network  ·  encoder weights bundled in the repo.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329184" y="5280659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TextBox 17455"/>
          <p:cNvSpPr txBox="1"/>
          <p:nvPr/>
        </p:nvSpPr>
        <p:spPr>
          <a:xfrm>
            <a:off x="521207" y="5230368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The eleven checks, and the tier each one needs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329184" y="5541264"/>
            <a:ext cx="102595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near_duplicate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1446580" y="5541264"/>
            <a:ext cx="291693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ood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1829714" y="5541264"/>
            <a:ext cx="825703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label_noise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2746857" y="5541264"/>
            <a:ext cx="892454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trigger_freq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3730752" y="5541264"/>
            <a:ext cx="825703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contributor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4647895" y="5541264"/>
            <a:ext cx="42519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shift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164531" y="5541264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fingerprint  t0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6348679" y="5541264"/>
            <a:ext cx="122621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weight_digest  t1</a:t>
            </a:r>
          </a:p>
        </p:txBody>
      </p:sp>
      <p:sp>
        <p:nvSpPr>
          <p:cNvPr id="17465" name="Rounded Rectangle 17464"/>
          <p:cNvSpPr/>
          <p:nvPr/>
        </p:nvSpPr>
        <p:spPr>
          <a:xfrm>
            <a:off x="7666329" y="5541264"/>
            <a:ext cx="1159459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weight_stats  t1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8917228" y="5541264"/>
            <a:ext cx="1559966" cy="27432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spectral_signature  t2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10568635" y="5541264"/>
            <a:ext cx="1226210" cy="274320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80" b="1" i="0">
                <a:solidFill>
                  <a:srgbClr val="FFFFFF"/>
                </a:solidFill>
                <a:latin typeface="Calibri"/>
              </a:rPr>
              <a:t>trigger_recon  t2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329184" y="5907024"/>
            <a:ext cx="11521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1">
                <a:solidFill>
                  <a:srgbClr val="5A6472"/>
                </a:solidFill>
                <a:latin typeface="Calibri"/>
              </a:rPr>
              <a:t>Every one degrades to a clean 'we could not check this, and here is why' at a lower tier — never a crash, never an invented number. A test runs the whole suite at tier 0 and asserts zero crashes.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29284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78992"/>
            <a:ext cx="5843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Measured, not asserted — 270 cells, 3 seeds each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371600"/>
            <a:ext cx="5870448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chart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1463040"/>
            <a:ext cx="4750040" cy="276148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475488" y="435254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1">
                <a:solidFill>
                  <a:srgbClr val="5A6472"/>
                </a:solidFill>
                <a:latin typeface="Calibri"/>
              </a:rPr>
              <a:t>Four attacks hold above 'strong' down to 1% poison. Blended triggers do not — and we say so.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6537960" y="1129284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729984" y="1078992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Analysis of the feasibility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537960" y="1371600"/>
            <a:ext cx="5321808" cy="1280160"/>
          </a:xfrm>
          <a:prstGeom prst="roundRect">
            <a:avLst/>
          </a:prstGeom>
          <a:solidFill>
            <a:srgbClr val="EAF5E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6693408" y="1472184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Already built and measured.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Not a concept — 301 tests, 270 swept cells, four results tables.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Commodity hardware.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347 images audited in 13 s on a laptop CPU. No GPU, no cluster, no cloud.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✓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Deploys into an air-gap.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Encoder weights ship inside the repository; nothing is downloaded.</a:t>
            </a:r>
          </a:p>
        </p:txBody>
      </p:sp>
      <p:sp>
        <p:nvSpPr>
          <p:cNvPr id="17419" name="Oval 17418"/>
          <p:cNvSpPr/>
          <p:nvPr/>
        </p:nvSpPr>
        <p:spPr>
          <a:xfrm>
            <a:off x="6537960" y="2811780"/>
            <a:ext cx="105156" cy="10515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729984" y="2761488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mbria"/>
              </a:rPr>
              <a:t>Potential challenges and risks  →  strategies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537960" y="3054096"/>
            <a:ext cx="5321808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6693408" y="3154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Faint blended triggers evade us (0.20).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Reported as unsupported, not hidden. Tier-2 spectral check is the next build.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No contributor metadata in the intake.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Regex fallback on paths; otherwise the report says so instead of guessing.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Vendor supplies a black box.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Fingerprinting still proves substitution at tier 0; coverage marks the rest.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alibri"/>
              </a:rPr>
              <a:t>!  </a:t>
            </a:r>
            <a:r>
              <a:rPr sz="1050" b="1" i="0">
                <a:solidFill>
                  <a:srgbClr val="13294B"/>
                </a:solidFill>
                <a:latin typeface="Calibri"/>
              </a:rPr>
              <a:t>An attacker who knows our checks.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7F4B"/>
                </a:solidFill>
                <a:latin typeface="Calibri"/>
              </a:rPr>
              <a:t>    → 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Stated in every report. The detector set is pluggable and instantly measurable.</a:t>
            </a:r>
          </a:p>
        </p:txBody>
      </p:sp>
      <p:sp>
        <p:nvSpPr>
          <p:cNvPr id="17423" name="Oval 17422"/>
          <p:cNvSpPr/>
          <p:nvPr/>
        </p:nvSpPr>
        <p:spPr>
          <a:xfrm>
            <a:off x="329184" y="4878324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521207" y="4828032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Measured coverage — graded on the median cell, never the best</a:t>
            </a:r>
          </a:p>
        </p:txBody>
      </p:sp>
      <p:graphicFrame>
        <p:nvGraphicFramePr>
          <p:cNvPr id="17425" name="Table 17424"/>
          <p:cNvGraphicFramePr>
            <a:graphicFrameLocks noGrp="1"/>
          </p:cNvGraphicFramePr>
          <p:nvPr/>
        </p:nvGraphicFramePr>
        <p:xfrm>
          <a:off x="329184" y="5120640"/>
          <a:ext cx="11530583" cy="1111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60520"/>
                <a:gridCol w="1783080"/>
                <a:gridCol w="2011680"/>
                <a:gridCol w="1508760"/>
                <a:gridCol w="2066543"/>
              </a:tblGrid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What an attacker did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Typical TPR@1%FPR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False alarms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36576" marT="0" marB="0" anchor="ctr">
                    <a:solidFill>
                      <a:srgbClr val="13294B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The same photograph submitted many times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0.45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Images from a completely different source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0.73 – 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One contributor mislabels systematically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0.01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 marker pasted onto the image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0.67 – 1.00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EEF2F6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The picture is fine, the label is wrong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0.83 – 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 faint pattern over the whole image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0.00 – 0.67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C0392B"/>
                          </a:solidFill>
                          <a:latin typeface="Calibri"/>
                        </a:rPr>
                        <a:t>UNSUPPORTED</a:t>
                      </a:r>
                    </a:p>
                  </a:txBody>
                  <a:tcPr marL="54864" marR="36576" marT="0" marB="0" anchor="ctr">
                    <a:solidFill>
                      <a:srgbClr val="FDF0EE"/>
                    </a:solidFill>
                  </a:tcPr>
                </a:tc>
              </a:tr>
              <a:tr h="138988">
                <a:tc>
                  <a:txBody>
                    <a:bodyPr wrap="none"/>
                    <a:lstStyle/>
                    <a:p>
                      <a:pPr algn="l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Any tampering with the inference log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proof, not an estimate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0" i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60" b="1" i="0">
                          <a:solidFill>
                            <a:srgbClr val="1A7F4B"/>
                          </a:solidFill>
                          <a:latin typeface="Calibri"/>
                        </a:rPr>
                        <a:t>strong</a:t>
                      </a:r>
                    </a:p>
                  </a:txBody>
                  <a:tcPr marL="54864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29284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78992"/>
            <a:ext cx="7123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What an analyst actually receives</a:t>
            </a:r>
          </a:p>
        </p:txBody>
      </p:sp>
      <p:pic>
        <p:nvPicPr>
          <p:cNvPr id="17412" name="Picture 17411" descr="shot_verdi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1371600"/>
            <a:ext cx="5897880" cy="8586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9184" y="2304288"/>
            <a:ext cx="5897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6472"/>
                </a:solidFill>
                <a:latin typeface="Calibri"/>
              </a:rPr>
              <a:t>Real output. One offline HTML file — no dashboard to host, nothing to install on the analyst's machine.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9184" y="2615184"/>
            <a:ext cx="2971800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chart_contr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" y="2706624"/>
            <a:ext cx="2737001" cy="1965960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402336" y="4754880"/>
            <a:ext cx="2825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Calibri"/>
              </a:rPr>
              <a:t>Bars: what we found.  Stars: the truth.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401568" y="2615184"/>
            <a:ext cx="313639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chart_heat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2706624"/>
            <a:ext cx="2961482" cy="1965960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3474720" y="4754880"/>
            <a:ext cx="2990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Calibri"/>
              </a:rPr>
              <a:t>What we did, against what was true.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5285232"/>
            <a:ext cx="6208776" cy="896112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75488" y="5376672"/>
            <a:ext cx="5916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C0392B"/>
                </a:solidFill>
                <a:latin typeface="Calibri"/>
              </a:rPr>
              <a:t>Before:  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an analyst is handed 900 suspect image IDs and no way to rank them.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A7F4B"/>
                </a:solidFill>
                <a:latin typeface="Calibri"/>
              </a:rPr>
              <a:t>After:  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one line — quarantine Contributor C3, whose true poison rate was 51% and whom we scored 45% with a 36–54% interval.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656832" y="1129284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848856" y="1078992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Potential impact on the target audience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656832" y="1371600"/>
            <a:ext cx="5202936" cy="1572768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6803136" y="1472184"/>
            <a:ext cx="4919472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Intake officer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gets an order — 'quarantine Contributor D' — not 900 IDs to triage.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Model reviewer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can prove a vendor model is the enrolled one, from its answers alone.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Investigator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gets a named failure mode on the exact record that was edited.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1" i="0">
                <a:solidFill>
                  <a:srgbClr val="1C7293"/>
                </a:solidFill>
                <a:latin typeface="Calibri"/>
              </a:rPr>
              <a:t>▸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Commander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sees one traffic light, and an honest list of what was not checked.</a:t>
            </a:r>
          </a:p>
        </p:txBody>
      </p:sp>
      <p:sp>
        <p:nvSpPr>
          <p:cNvPr id="17426" name="Oval 17425"/>
          <p:cNvSpPr/>
          <p:nvPr/>
        </p:nvSpPr>
        <p:spPr>
          <a:xfrm>
            <a:off x="6656832" y="3122676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848856" y="3072384"/>
            <a:ext cx="50200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Benefits of the solution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656832" y="3364992"/>
            <a:ext cx="5202936" cy="2542032"/>
          </a:xfrm>
          <a:prstGeom prst="roundRect">
            <a:avLst/>
          </a:prstGeom>
          <a:solidFill>
            <a:srgbClr val="EAF5E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6803136" y="3465576"/>
            <a:ext cx="491947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Operational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Triage collapses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from every image to a handful of sources — minutes, not days.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Security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Poisoned data and swapped models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are caught before they reach a model that guides a decision.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Legal / audit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Every inference is provable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after the fact; the audit trail is itself tamper-evident.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Economic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Contributions are salvaged, not binned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— quarantine one source instead of discarding a whole intake.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80" b="1" i="0">
                <a:solidFill>
                  <a:srgbClr val="1A7F4B"/>
                </a:solidFill>
                <a:latin typeface="Calibri"/>
              </a:rPr>
              <a:t>Ethical  </a:t>
            </a:r>
            <a:r>
              <a:rPr sz="1080" b="0" i="0">
                <a:solidFill>
                  <a:srgbClr val="5A6472"/>
                </a:solidFill>
                <a:latin typeface="Calibri"/>
              </a:rPr>
              <a:t>·  </a:t>
            </a:r>
            <a:r>
              <a:rPr sz="1080" b="1" i="0">
                <a:solidFill>
                  <a:srgbClr val="13294B"/>
                </a:solidFill>
                <a:latin typeface="Calibri"/>
              </a:rPr>
              <a:t>The system states its own limits</a:t>
            </a:r>
            <a:r>
              <a:rPr sz="1080" b="0" i="0">
                <a:solidFill>
                  <a:srgbClr val="1A1A1A"/>
                </a:solidFill>
                <a:latin typeface="Calibri"/>
              </a:rPr>
              <a:t> in every report, so nobody over-trusts a clean result.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eaLnBrk="1" hangingPunct="1" algn="ctr"/>
            <a:r>
              <a:rPr sz="2900" b="1" i="0">
                <a:solidFill>
                  <a:srgbClr val="13294B"/>
                </a:solidFill>
                <a:latin typeface="Cambria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3294B"/>
                </a:solidFill>
                <a:latin typeface="Calibri"/>
              </a:rPr>
              <a:t>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9184" y="1110995"/>
            <a:ext cx="105156" cy="10515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21207" y="1060704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mbria"/>
              </a:rPr>
              <a:t>Attack literature we test against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1353312"/>
            <a:ext cx="5669280" cy="164592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493776" y="1453896"/>
            <a:ext cx="535838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BadNets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Gu, Dolan-Gavitt &amp; Garg, 2017. Patch triggers.  arXiv:1708.06733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Blended / invisible triggers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Chen et al., 2017. The attack we measure worst on.  arXiv:1712.05526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Spectral Signatures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Tran, Li &amp; Madry, NeurIPS 2018. Our tier-2 check.  arXiv:1811.00636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Neural Cleanse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Wang et al., IEEE S&amp;P 2019. Trigger reconstruction, MAD anomaly index.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Dataset poisoning survey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Goldblum et al., TPAMI 2023. Multi-contributor threat model.</a:t>
            </a:r>
          </a:p>
        </p:txBody>
      </p:sp>
      <p:sp>
        <p:nvSpPr>
          <p:cNvPr id="17414" name="Oval 17413"/>
          <p:cNvSpPr/>
          <p:nvPr/>
        </p:nvSpPr>
        <p:spPr>
          <a:xfrm>
            <a:off x="329184" y="3159252"/>
            <a:ext cx="105156" cy="10515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521207" y="3108960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7293"/>
                </a:solidFill>
                <a:latin typeface="Cambria"/>
              </a:rPr>
              <a:t>Methods and standards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3401568"/>
            <a:ext cx="56692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493776" y="3502152"/>
            <a:ext cx="5358384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Ed25519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RFC 8032. Keys generated locally, never transmitted.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Isotonic calibration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Zadrozny &amp; Elkan, KDD 2002. Score → probability.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Benjamini–Hochberg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JRSS-B 1995. Controls false alarms across the nine shift measurements.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13294B"/>
                </a:solidFill>
                <a:latin typeface="Calibri"/>
              </a:rPr>
              <a:t>COCO / YOLO</a:t>
            </a:r>
            <a:r>
              <a:rPr sz="1040" b="0" i="0">
                <a:solidFill>
                  <a:srgbClr val="1A1A1A"/>
                </a:solidFill>
                <a:latin typeface="Calibri"/>
              </a:rPr>
              <a:t> — Lin et al., ECCV 2014; Ultralytics data.yaml. Both ingest formats PS 2.2.6 requires.</a:t>
            </a:r>
          </a:p>
        </p:txBody>
      </p:sp>
      <p:sp>
        <p:nvSpPr>
          <p:cNvPr id="17418" name="Oval 17417"/>
          <p:cNvSpPr/>
          <p:nvPr/>
        </p:nvSpPr>
        <p:spPr>
          <a:xfrm>
            <a:off x="329184" y="4860036"/>
            <a:ext cx="105156" cy="105156"/>
          </a:xfrm>
          <a:prstGeom prst="ellipse">
            <a:avLst/>
          </a:prstGeom>
          <a:solidFill>
            <a:srgbClr val="B0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521207" y="4809744"/>
            <a:ext cx="54772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6F00"/>
                </a:solidFill>
                <a:latin typeface="Cambria"/>
              </a:rPr>
              <a:t>Datasets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9184" y="5102352"/>
            <a:ext cx="5669280" cy="658368"/>
          </a:xfrm>
          <a:prstGeom prst="roundRect">
            <a:avLst/>
          </a:prstGeom>
          <a:solidFill>
            <a:srgbClr val="FFF8EC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93776" y="5193792"/>
            <a:ext cx="535838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A1A1A"/>
                </a:solidFill>
                <a:latin typeface="Calibri"/>
              </a:rPr>
              <a:t>SYNTH-10 — procedural, ships with the repo so every result reproduces air-gapped  ·  CIFAR-10  ·  GTSRB  ·  VisDrone / DOTA subset, in both COCO and YOLO form.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6446520" y="1110995"/>
            <a:ext cx="105156" cy="105156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638544" y="1060704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7F4B"/>
                </a:solidFill>
                <a:latin typeface="Cambria"/>
              </a:rPr>
              <a:t>Our own measured results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46520" y="1353312"/>
            <a:ext cx="541324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chart_cali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444752"/>
            <a:ext cx="2392890" cy="2084831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162288" y="1517904"/>
            <a:ext cx="2578608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80" b="1" i="0">
                <a:solidFill>
                  <a:srgbClr val="13294B"/>
                </a:solidFill>
                <a:latin typeface="Calibri"/>
              </a:rPr>
              <a:t>Calibration works.</a:t>
            </a:r>
            <a:r>
              <a:rPr sz="980" b="0" i="0">
                <a:solidFill>
                  <a:srgbClr val="1A1A1A"/>
                </a:solidFill>
                <a:latin typeface="Calibri"/>
              </a:rPr>
              <a:t> Expected Calibration Error falls from 0.277 to 0.079 once the combined score is calibrated as a quantity in its own right.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80" b="1" i="0">
                <a:solidFill>
                  <a:srgbClr val="13294B"/>
                </a:solidFill>
                <a:latin typeface="Calibri"/>
              </a:rPr>
              <a:t>Sanity-checked first.</a:t>
            </a:r>
            <a:r>
              <a:rPr sz="980" b="0" i="0">
                <a:solidFill>
                  <a:srgbClr val="1A1A1A"/>
                </a:solidFill>
                <a:latin typeface="Calibri"/>
              </a:rPr>
              <a:t> Random scores must give AUROC 0.5, perfect scores 1.0 — both are tests, written before any detector existed.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583680" y="3547872"/>
            <a:ext cx="5138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 i="1">
                <a:solidFill>
                  <a:srgbClr val="5A6472"/>
                </a:solidFill>
                <a:latin typeface="Calibri"/>
              </a:rPr>
              <a:t>Every headline number carries a bootstrap 95% interval; every swept cell runs at three seeds.</a:t>
            </a:r>
          </a:p>
        </p:txBody>
      </p:sp>
      <p:sp>
        <p:nvSpPr>
          <p:cNvPr id="17428" name="Oval 17427"/>
          <p:cNvSpPr/>
          <p:nvPr/>
        </p:nvSpPr>
        <p:spPr>
          <a:xfrm>
            <a:off x="6446520" y="4018787"/>
            <a:ext cx="105156" cy="105156"/>
          </a:xfrm>
          <a:prstGeom prst="ellipse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6638544" y="3968496"/>
            <a:ext cx="5202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94B"/>
                </a:solidFill>
                <a:latin typeface="Cambria"/>
              </a:rPr>
              <a:t>Repository and reproduction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446520" y="4261104"/>
            <a:ext cx="5413248" cy="1499616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6601968" y="4361688"/>
            <a:ext cx="5102352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reproduce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regenerates every number and figure from scratch, offline.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verify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runs 301 tests plus the assertion that nothing touched the network.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60" b="1" i="0">
                <a:solidFill>
                  <a:srgbClr val="13294B"/>
                </a:solidFill>
                <a:latin typeface="Calibri"/>
              </a:rPr>
              <a:t>make demo</a:t>
            </a:r>
            <a:r>
              <a:rPr sz="1060" b="0" i="0">
                <a:solidFill>
                  <a:srgbClr val="1A1A1A"/>
                </a:solidFill>
                <a:latin typeface="Calibri"/>
              </a:rPr>
              <a:t>  the four-minute judge sequence, laptop in airplane mode.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 i="1">
                <a:solidFill>
                  <a:srgbClr val="5A6472"/>
                </a:solidFill>
                <a:latin typeface="Calibri"/>
              </a:rPr>
              <a:t>Full source, the seeded attack harness and all four results tables ship in the repository.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29184" y="5888736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13294B"/>
                </a:solidFill>
                <a:latin typeface="Cambria"/>
              </a:rPr>
              <a:t>PS 26228 covered: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1773936" y="5870448"/>
            <a:ext cx="145023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2.2.1  data integrity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297326" y="5870448"/>
            <a:ext cx="151058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2.2.2  model integrity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4881067" y="5870448"/>
            <a:ext cx="1208836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2.2.3  provenance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6163056" y="5870448"/>
            <a:ext cx="1751990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2.2.4  calibration + shift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88198" y="5870448"/>
            <a:ext cx="1450238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2.2.5  analyst report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9511588" y="5870448"/>
            <a:ext cx="2114092" cy="274320"/>
          </a:xfrm>
          <a:prstGeom prst="roundRect">
            <a:avLst>
              <a:gd name="adj" fmla="val 5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✓  2.2.6  formats · tiers · offline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