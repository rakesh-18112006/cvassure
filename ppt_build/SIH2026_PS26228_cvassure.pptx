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Software/Hardware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ID-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 (Registered on portal)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 wrap="square"/>
          <a:lstStyle/>
          <a:p>
            <a:pPr eaLnBrk="1" hangingPunct="1" algn="ctr"/>
            <a:r>
              <a:rPr sz="2600" b="1" i="0">
                <a:solidFill>
                  <a:srgbClr val="13294B"/>
                </a:solidFill>
                <a:latin typeface="Cambria"/>
              </a:rPr>
              <a:t>CVASSURE  —  INTEGRITY YOU CAN PROVE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1000" b="1" i="0">
                <a:solidFill>
                  <a:srgbClr val="13294B"/>
                </a:solidFill>
                <a:latin typeface="Calibri"/>
              </a:rPr>
              <a:t>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2" name="TextBox 15361"/>
          <p:cNvSpPr txBox="1"/>
          <p:nvPr/>
        </p:nvSpPr>
        <p:spPr>
          <a:xfrm>
            <a:off x="329184" y="1042415"/>
            <a:ext cx="11521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0" i="1">
                <a:solidFill>
                  <a:srgbClr val="5A6472"/>
                </a:solidFill>
                <a:latin typeface="Calibri"/>
              </a:rPr>
              <a:t>Prove the data, the model and the answer — offline, for computer-vision pipelines fed by many contributors   ·   PS 26228</a:t>
            </a:r>
          </a:p>
        </p:txBody>
      </p:sp>
      <p:sp>
        <p:nvSpPr>
          <p:cNvPr id="15363" name="Rounded Rectangle 15362"/>
          <p:cNvSpPr/>
          <p:nvPr/>
        </p:nvSpPr>
        <p:spPr>
          <a:xfrm>
            <a:off x="329184" y="1389888"/>
            <a:ext cx="5532120" cy="3035808"/>
          </a:xfrm>
          <a:prstGeom prst="roundRect">
            <a:avLst/>
          </a:prstGeom>
          <a:solidFill>
            <a:srgbClr val="EEF2F6"/>
          </a:solidFill>
          <a:ln w="12700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64" name="Oval 15363"/>
          <p:cNvSpPr/>
          <p:nvPr/>
        </p:nvSpPr>
        <p:spPr>
          <a:xfrm>
            <a:off x="512064" y="1549907"/>
            <a:ext cx="105156" cy="105156"/>
          </a:xfrm>
          <a:prstGeom prst="ellipse">
            <a:avLst/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65" name="TextBox 15364"/>
          <p:cNvSpPr txBox="1"/>
          <p:nvPr/>
        </p:nvSpPr>
        <p:spPr>
          <a:xfrm>
            <a:off x="704088" y="1499616"/>
            <a:ext cx="502005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3294B"/>
                </a:solidFill>
                <a:latin typeface="Cambria"/>
              </a:rPr>
              <a:t>Proposed Solution</a:t>
            </a:r>
          </a:p>
        </p:txBody>
      </p:sp>
      <p:sp>
        <p:nvSpPr>
          <p:cNvPr id="15366" name="TextBox 15365"/>
          <p:cNvSpPr txBox="1"/>
          <p:nvPr/>
        </p:nvSpPr>
        <p:spPr>
          <a:xfrm>
            <a:off x="704088" y="1755648"/>
            <a:ext cx="49834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0" i="1">
                <a:solidFill>
                  <a:srgbClr val="5A6472"/>
                </a:solidFill>
                <a:latin typeface="Calibri"/>
              </a:rPr>
              <a:t>Three questions, answered before anything goes into service:</a:t>
            </a:r>
          </a:p>
        </p:txBody>
      </p:sp>
      <p:sp>
        <p:nvSpPr>
          <p:cNvPr id="15367" name="TextBox 15366"/>
          <p:cNvSpPr txBox="1"/>
          <p:nvPr/>
        </p:nvSpPr>
        <p:spPr>
          <a:xfrm>
            <a:off x="603503" y="2048256"/>
            <a:ext cx="50749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30" b="1" i="0">
                <a:solidFill>
                  <a:srgbClr val="1C7293"/>
                </a:solidFill>
                <a:latin typeface="Calibri"/>
              </a:rPr>
              <a:t>1.  </a:t>
            </a:r>
            <a:r>
              <a:rPr sz="1230" b="0" i="0">
                <a:solidFill>
                  <a:srgbClr val="1A1A1A"/>
                </a:solidFill>
                <a:latin typeface="Calibri"/>
              </a:rPr>
              <a:t>Was the training data tampered with — and </a:t>
            </a:r>
            <a:r>
              <a:rPr sz="1230" b="1" i="0">
                <a:solidFill>
                  <a:srgbClr val="13294B"/>
                </a:solidFill>
                <a:latin typeface="Calibri"/>
              </a:rPr>
              <a:t>who sent it?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30" b="1" i="0">
                <a:solidFill>
                  <a:srgbClr val="1C7293"/>
                </a:solidFill>
                <a:latin typeface="Calibri"/>
              </a:rPr>
              <a:t>2.  </a:t>
            </a:r>
            <a:r>
              <a:rPr sz="1230" b="0" i="0">
                <a:solidFill>
                  <a:srgbClr val="1A1A1A"/>
                </a:solidFill>
                <a:latin typeface="Calibri"/>
              </a:rPr>
              <a:t>Is this the model we were given, or has it been </a:t>
            </a:r>
            <a:r>
              <a:rPr sz="1230" b="1" i="0">
                <a:solidFill>
                  <a:srgbClr val="13294B"/>
                </a:solidFill>
                <a:latin typeface="Calibri"/>
              </a:rPr>
              <a:t>swapped or edited?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30" b="1" i="0">
                <a:solidFill>
                  <a:srgbClr val="1C7293"/>
                </a:solidFill>
                <a:latin typeface="Calibri"/>
              </a:rPr>
              <a:t>3.  </a:t>
            </a:r>
            <a:r>
              <a:rPr sz="1230" b="0" i="0">
                <a:solidFill>
                  <a:srgbClr val="1A1A1A"/>
                </a:solidFill>
                <a:latin typeface="Calibri"/>
              </a:rPr>
              <a:t>Is the record of what the model answered </a:t>
            </a:r>
            <a:r>
              <a:rPr sz="1230" b="1" i="0">
                <a:solidFill>
                  <a:srgbClr val="13294B"/>
                </a:solidFill>
                <a:latin typeface="Calibri"/>
              </a:rPr>
              <a:t>trustworthy?</a:t>
            </a:r>
          </a:p>
        </p:txBody>
      </p:sp>
      <p:sp>
        <p:nvSpPr>
          <p:cNvPr id="15368" name="Rounded Rectangle 15367"/>
          <p:cNvSpPr/>
          <p:nvPr/>
        </p:nvSpPr>
        <p:spPr>
          <a:xfrm>
            <a:off x="603503" y="3200400"/>
            <a:ext cx="4160520" cy="292608"/>
          </a:xfrm>
          <a:prstGeom prst="roundRect">
            <a:avLst>
              <a:gd name="adj" fmla="val 50000"/>
            </a:avLst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80" b="1" i="0">
                <a:solidFill>
                  <a:srgbClr val="FFFFFF"/>
                </a:solidFill>
                <a:latin typeface="Calibri"/>
              </a:rPr>
              <a:t>cvassure audit --dataset data/ --model m.onnx --out results/</a:t>
            </a:r>
          </a:p>
        </p:txBody>
      </p:sp>
      <p:sp>
        <p:nvSpPr>
          <p:cNvPr id="15369" name="TextBox 15368"/>
          <p:cNvSpPr txBox="1"/>
          <p:nvPr/>
        </p:nvSpPr>
        <p:spPr>
          <a:xfrm>
            <a:off x="603503" y="3602736"/>
            <a:ext cx="50749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A7F4B"/>
                </a:solidFill>
                <a:latin typeface="Calibri"/>
              </a:rPr>
              <a:t>One command</a:t>
            </a:r>
            <a:r>
              <a:rPr sz="1200" b="0" i="0">
                <a:solidFill>
                  <a:srgbClr val="1A1A1A"/>
                </a:solidFill>
                <a:latin typeface="Calibri"/>
              </a:rPr>
              <a:t>  →  one self-contained HTML report, a traffic-light verdict, and a coverage table that also lists what we </a:t>
            </a:r>
            <a:r>
              <a:rPr sz="1200" b="1" i="0">
                <a:solidFill>
                  <a:srgbClr val="C0392B"/>
                </a:solidFill>
                <a:latin typeface="Calibri"/>
              </a:rPr>
              <a:t>cannot</a:t>
            </a:r>
            <a:r>
              <a:rPr sz="1200" b="0" i="0">
                <a:solidFill>
                  <a:srgbClr val="1A1A1A"/>
                </a:solidFill>
                <a:latin typeface="Calibri"/>
              </a:rPr>
              <a:t> detect.</a:t>
            </a:r>
          </a:p>
        </p:txBody>
      </p:sp>
      <p:sp>
        <p:nvSpPr>
          <p:cNvPr id="15370" name="Rounded Rectangle 15369"/>
          <p:cNvSpPr/>
          <p:nvPr/>
        </p:nvSpPr>
        <p:spPr>
          <a:xfrm>
            <a:off x="6108192" y="1389888"/>
            <a:ext cx="5751576" cy="1453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71" name="Oval 15370"/>
          <p:cNvSpPr/>
          <p:nvPr/>
        </p:nvSpPr>
        <p:spPr>
          <a:xfrm>
            <a:off x="6291072" y="1540763"/>
            <a:ext cx="105156" cy="105156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2" name="TextBox 15371"/>
          <p:cNvSpPr txBox="1"/>
          <p:nvPr/>
        </p:nvSpPr>
        <p:spPr>
          <a:xfrm>
            <a:off x="6483096" y="1490472"/>
            <a:ext cx="52029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C7293"/>
                </a:solidFill>
                <a:latin typeface="Cambria"/>
              </a:rPr>
              <a:t>How it addresses the problem</a:t>
            </a:r>
          </a:p>
        </p:txBody>
      </p:sp>
      <p:sp>
        <p:nvSpPr>
          <p:cNvPr id="15373" name="TextBox 15372"/>
          <p:cNvSpPr txBox="1"/>
          <p:nvPr/>
        </p:nvSpPr>
        <p:spPr>
          <a:xfrm>
            <a:off x="6364224" y="1773936"/>
            <a:ext cx="5358384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80" b="1" i="0">
                <a:solidFill>
                  <a:srgbClr val="1C7293"/>
                </a:solidFill>
                <a:latin typeface="Calibri"/>
              </a:rPr>
              <a:t>▸ </a:t>
            </a:r>
            <a:r>
              <a:rPr sz="1080" b="1" i="0">
                <a:solidFill>
                  <a:srgbClr val="13294B"/>
                </a:solidFill>
                <a:latin typeface="Calibri"/>
              </a:rPr>
              <a:t>Names the source, not 900 files.</a:t>
            </a:r>
            <a:r>
              <a:rPr sz="1080" b="0" i="0">
                <a:solidFill>
                  <a:srgbClr val="1A1A1A"/>
                </a:solidFill>
                <a:latin typeface="Calibri"/>
              </a:rPr>
              <a:t> Beta-Binomial risk per contributor — an order an officer can act on.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80" b="1" i="0">
                <a:solidFill>
                  <a:srgbClr val="1C7293"/>
                </a:solidFill>
                <a:latin typeface="Calibri"/>
              </a:rPr>
              <a:t>▸ </a:t>
            </a:r>
            <a:r>
              <a:rPr sz="1080" b="1" i="0">
                <a:solidFill>
                  <a:srgbClr val="13294B"/>
                </a:solidFill>
                <a:latin typeface="Calibri"/>
              </a:rPr>
              <a:t>Works black-box.</a:t>
            </a:r>
            <a:r>
              <a:rPr sz="1080" b="0" i="0">
                <a:solidFill>
                  <a:srgbClr val="1A1A1A"/>
                </a:solidFill>
                <a:latin typeface="Calibri"/>
              </a:rPr>
              <a:t> Detects a swapped model from its answers alone; refuses checks above the tier.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80" b="1" i="0">
                <a:solidFill>
                  <a:srgbClr val="1C7293"/>
                </a:solidFill>
                <a:latin typeface="Calibri"/>
              </a:rPr>
              <a:t>▸ </a:t>
            </a:r>
            <a:r>
              <a:rPr sz="1080" b="1" i="0">
                <a:solidFill>
                  <a:srgbClr val="13294B"/>
                </a:solidFill>
                <a:latin typeface="Calibri"/>
              </a:rPr>
              <a:t>Proof for the log.</a:t>
            </a:r>
            <a:r>
              <a:rPr sz="1080" b="0" i="0">
                <a:solidFill>
                  <a:srgbClr val="1A1A1A"/>
                </a:solidFill>
                <a:latin typeface="Calibri"/>
              </a:rPr>
              <a:t> Signed, hash-chained receipts — cryptography, not statistics.</a:t>
            </a:r>
          </a:p>
        </p:txBody>
      </p:sp>
      <p:sp>
        <p:nvSpPr>
          <p:cNvPr id="15374" name="Rounded Rectangle 15373"/>
          <p:cNvSpPr/>
          <p:nvPr/>
        </p:nvSpPr>
        <p:spPr>
          <a:xfrm>
            <a:off x="6108192" y="2971800"/>
            <a:ext cx="5751576" cy="1536192"/>
          </a:xfrm>
          <a:prstGeom prst="roundRect">
            <a:avLst/>
          </a:prstGeom>
          <a:solidFill>
            <a:srgbClr val="FFF8EC"/>
          </a:solidFill>
          <a:ln w="12700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75" name="Oval 15374"/>
          <p:cNvSpPr/>
          <p:nvPr/>
        </p:nvSpPr>
        <p:spPr>
          <a:xfrm>
            <a:off x="6291072" y="3122676"/>
            <a:ext cx="105156" cy="105156"/>
          </a:xfrm>
          <a:prstGeom prst="ellipse">
            <a:avLst/>
          </a:prstGeom>
          <a:solidFill>
            <a:srgbClr val="B06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6" name="TextBox 15375"/>
          <p:cNvSpPr txBox="1"/>
          <p:nvPr/>
        </p:nvSpPr>
        <p:spPr>
          <a:xfrm>
            <a:off x="6483096" y="3072384"/>
            <a:ext cx="52029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B06F00"/>
                </a:solidFill>
                <a:latin typeface="Cambria"/>
              </a:rPr>
              <a:t>Innovation and uniqueness</a:t>
            </a:r>
          </a:p>
        </p:txBody>
      </p:sp>
      <p:sp>
        <p:nvSpPr>
          <p:cNvPr id="15377" name="TextBox 15376"/>
          <p:cNvSpPr txBox="1"/>
          <p:nvPr/>
        </p:nvSpPr>
        <p:spPr>
          <a:xfrm>
            <a:off x="6364224" y="3337560"/>
            <a:ext cx="5358384" cy="10607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60" b="1" i="0">
                <a:solidFill>
                  <a:srgbClr val="B06F00"/>
                </a:solidFill>
                <a:latin typeface="Calibri"/>
              </a:rPr>
              <a:t>▸ </a:t>
            </a:r>
            <a:r>
              <a:rPr sz="1060" b="1" i="0">
                <a:solidFill>
                  <a:srgbClr val="13294B"/>
                </a:solidFill>
                <a:latin typeface="Calibri"/>
              </a:rPr>
              <a:t>Plain English, enforced in code.</a:t>
            </a:r>
            <a:r>
              <a:rPr sz="1060" b="0" i="0">
                <a:solidFill>
                  <a:srgbClr val="1A1A1A"/>
                </a:solidFill>
                <a:latin typeface="Calibri"/>
              </a:rPr>
              <a:t> A finding with jargon or no number is rejected at construction.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60" b="1" i="0">
                <a:solidFill>
                  <a:srgbClr val="B06F00"/>
                </a:solidFill>
                <a:latin typeface="Calibri"/>
              </a:rPr>
              <a:t>▸ </a:t>
            </a:r>
            <a:r>
              <a:rPr sz="1060" b="1" i="0">
                <a:solidFill>
                  <a:srgbClr val="13294B"/>
                </a:solidFill>
                <a:latin typeface="Calibri"/>
              </a:rPr>
              <a:t>The detectors cannot see the answer key.</a:t>
            </a:r>
            <a:r>
              <a:rPr sz="1060" b="0" i="0">
                <a:solidFill>
                  <a:srgbClr val="1A1A1A"/>
                </a:solidFill>
                <a:latin typeface="Calibri"/>
              </a:rPr>
              <a:t> A test reads the source and fails the build if they could.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60" b="1" i="0">
                <a:solidFill>
                  <a:srgbClr val="B06F00"/>
                </a:solidFill>
                <a:latin typeface="Calibri"/>
              </a:rPr>
              <a:t>▸ </a:t>
            </a:r>
            <a:r>
              <a:rPr sz="1060" b="1" i="0">
                <a:solidFill>
                  <a:srgbClr val="13294B"/>
                </a:solidFill>
                <a:latin typeface="Calibri"/>
              </a:rPr>
              <a:t>It publishes its own weaknesses.</a:t>
            </a:r>
            <a:r>
              <a:rPr sz="1060" b="0" i="0">
                <a:solidFill>
                  <a:srgbClr val="1A1A1A"/>
                </a:solidFill>
                <a:latin typeface="Calibri"/>
              </a:rPr>
              <a:t> Coverage is generated from measurements, never hand-written.</a:t>
            </a:r>
          </a:p>
        </p:txBody>
      </p:sp>
      <p:sp>
        <p:nvSpPr>
          <p:cNvPr id="15378" name="Rounded Rectangle 15377"/>
          <p:cNvSpPr/>
          <p:nvPr/>
        </p:nvSpPr>
        <p:spPr>
          <a:xfrm>
            <a:off x="329184" y="4572000"/>
            <a:ext cx="2212848" cy="117043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7F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79" name="TextBox 15378"/>
          <p:cNvSpPr txBox="1"/>
          <p:nvPr/>
        </p:nvSpPr>
        <p:spPr>
          <a:xfrm>
            <a:off x="420623" y="4663440"/>
            <a:ext cx="2029967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A7F4B"/>
                </a:solidFill>
                <a:latin typeface="Cambria"/>
              </a:rPr>
              <a:t>1.00</a:t>
            </a:r>
          </a:p>
        </p:txBody>
      </p:sp>
      <p:sp>
        <p:nvSpPr>
          <p:cNvPr id="15380" name="TextBox 15379"/>
          <p:cNvSpPr txBox="1"/>
          <p:nvPr/>
        </p:nvSpPr>
        <p:spPr>
          <a:xfrm>
            <a:off x="402336" y="5120640"/>
            <a:ext cx="2066543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5A6472"/>
                </a:solidFill>
                <a:latin typeface="Calibri"/>
              </a:rPr>
              <a:t>duplicate floods &amp;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5A6472"/>
                </a:solidFill>
                <a:latin typeface="Calibri"/>
              </a:rPr>
              <a:t>foreign images caught</a:t>
            </a:r>
          </a:p>
        </p:txBody>
      </p:sp>
      <p:sp>
        <p:nvSpPr>
          <p:cNvPr id="15381" name="Rounded Rectangle 15380"/>
          <p:cNvSpPr/>
          <p:nvPr/>
        </p:nvSpPr>
        <p:spPr>
          <a:xfrm>
            <a:off x="2715768" y="4572000"/>
            <a:ext cx="2212848" cy="117043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7F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82" name="TextBox 15381"/>
          <p:cNvSpPr txBox="1"/>
          <p:nvPr/>
        </p:nvSpPr>
        <p:spPr>
          <a:xfrm>
            <a:off x="2807208" y="4663440"/>
            <a:ext cx="2029967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A7F4B"/>
                </a:solidFill>
                <a:latin typeface="Cambria"/>
              </a:rPr>
              <a:t>0.93</a:t>
            </a:r>
          </a:p>
        </p:txBody>
      </p:sp>
      <p:sp>
        <p:nvSpPr>
          <p:cNvPr id="15383" name="TextBox 15382"/>
          <p:cNvSpPr txBox="1"/>
          <p:nvPr/>
        </p:nvSpPr>
        <p:spPr>
          <a:xfrm>
            <a:off x="2788920" y="5120640"/>
            <a:ext cx="2066543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5A6472"/>
                </a:solidFill>
                <a:latin typeface="Calibri"/>
              </a:rPr>
              <a:t>pasted markers &amp;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5A6472"/>
                </a:solidFill>
                <a:latin typeface="Calibri"/>
              </a:rPr>
              <a:t>label flips caught</a:t>
            </a:r>
          </a:p>
        </p:txBody>
      </p:sp>
      <p:sp>
        <p:nvSpPr>
          <p:cNvPr id="15384" name="Rounded Rectangle 15383"/>
          <p:cNvSpPr/>
          <p:nvPr/>
        </p:nvSpPr>
        <p:spPr>
          <a:xfrm>
            <a:off x="5102352" y="4572000"/>
            <a:ext cx="2212848" cy="117043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329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85" name="TextBox 15384"/>
          <p:cNvSpPr txBox="1"/>
          <p:nvPr/>
        </p:nvSpPr>
        <p:spPr>
          <a:xfrm>
            <a:off x="5193792" y="4663440"/>
            <a:ext cx="2029967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3294B"/>
                </a:solidFill>
                <a:latin typeface="Cambria"/>
              </a:rPr>
              <a:t>100%</a:t>
            </a:r>
          </a:p>
        </p:txBody>
      </p:sp>
      <p:sp>
        <p:nvSpPr>
          <p:cNvPr id="15386" name="TextBox 15385"/>
          <p:cNvSpPr txBox="1"/>
          <p:nvPr/>
        </p:nvSpPr>
        <p:spPr>
          <a:xfrm>
            <a:off x="5175504" y="5120640"/>
            <a:ext cx="2066543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5A6472"/>
                </a:solidFill>
                <a:latin typeface="Calibri"/>
              </a:rPr>
              <a:t>log tampering caught,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5A6472"/>
                </a:solidFill>
                <a:latin typeface="Calibri"/>
              </a:rPr>
              <a:t>right failure named</a:t>
            </a:r>
          </a:p>
        </p:txBody>
      </p:sp>
      <p:sp>
        <p:nvSpPr>
          <p:cNvPr id="15387" name="Rounded Rectangle 15386"/>
          <p:cNvSpPr/>
          <p:nvPr/>
        </p:nvSpPr>
        <p:spPr>
          <a:xfrm>
            <a:off x="7488936" y="4572000"/>
            <a:ext cx="2212848" cy="1170432"/>
          </a:xfrm>
          <a:prstGeom prst="roundRect">
            <a:avLst/>
          </a:prstGeom>
          <a:solidFill>
            <a:srgbClr val="FDF0EE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88" name="TextBox 15387"/>
          <p:cNvSpPr txBox="1"/>
          <p:nvPr/>
        </p:nvSpPr>
        <p:spPr>
          <a:xfrm>
            <a:off x="7580375" y="4663440"/>
            <a:ext cx="2029967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C0392B"/>
                </a:solidFill>
                <a:latin typeface="Cambria"/>
              </a:rPr>
              <a:t>0.20</a:t>
            </a:r>
          </a:p>
        </p:txBody>
      </p:sp>
      <p:sp>
        <p:nvSpPr>
          <p:cNvPr id="15389" name="TextBox 15388"/>
          <p:cNvSpPr txBox="1"/>
          <p:nvPr/>
        </p:nvSpPr>
        <p:spPr>
          <a:xfrm>
            <a:off x="7562088" y="5120640"/>
            <a:ext cx="2066543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5A6472"/>
                </a:solidFill>
                <a:latin typeface="Calibri"/>
              </a:rPr>
              <a:t>blended triggers — we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5A6472"/>
                </a:solidFill>
                <a:latin typeface="Calibri"/>
              </a:rPr>
              <a:t>report this as a gap</a:t>
            </a:r>
          </a:p>
        </p:txBody>
      </p:sp>
      <p:sp>
        <p:nvSpPr>
          <p:cNvPr id="15390" name="Rounded Rectangle 15389"/>
          <p:cNvSpPr/>
          <p:nvPr/>
        </p:nvSpPr>
        <p:spPr>
          <a:xfrm>
            <a:off x="9875519" y="4572000"/>
            <a:ext cx="2212848" cy="117043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91" name="TextBox 15390"/>
          <p:cNvSpPr txBox="1"/>
          <p:nvPr/>
        </p:nvSpPr>
        <p:spPr>
          <a:xfrm>
            <a:off x="9966959" y="4663440"/>
            <a:ext cx="2029967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C7293"/>
                </a:solidFill>
                <a:latin typeface="Cambria"/>
              </a:rPr>
              <a:t>273</a:t>
            </a:r>
          </a:p>
        </p:txBody>
      </p:sp>
      <p:sp>
        <p:nvSpPr>
          <p:cNvPr id="15392" name="TextBox 15391"/>
          <p:cNvSpPr txBox="1"/>
          <p:nvPr/>
        </p:nvSpPr>
        <p:spPr>
          <a:xfrm>
            <a:off x="9948672" y="5120640"/>
            <a:ext cx="2066543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5A6472"/>
                </a:solidFill>
                <a:latin typeface="Calibri"/>
              </a:rPr>
              <a:t>tests  ·  0 network calls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5A6472"/>
                </a:solidFill>
                <a:latin typeface="Calibri"/>
              </a:rPr>
              <a:t>225 measured cells</a:t>
            </a:r>
          </a:p>
        </p:txBody>
      </p:sp>
      <p:sp>
        <p:nvSpPr>
          <p:cNvPr id="15393" name="TextBox 15392"/>
          <p:cNvSpPr txBox="1"/>
          <p:nvPr/>
        </p:nvSpPr>
        <p:spPr>
          <a:xfrm>
            <a:off x="329184" y="5852160"/>
            <a:ext cx="11521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30" b="0" i="1">
                <a:solidFill>
                  <a:srgbClr val="5A6472"/>
                </a:solidFill>
                <a:latin typeface="Calibri"/>
              </a:rPr>
              <a:t>Measured over 225 swept cells (5 attacks × 5 poison rates × 3 access tiers × 3 seeds) plus 12 tampering attempts — graded on the median cell, never the best.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eaLnBrk="1" hangingPunct="1" algn="ctr"/>
            <a:r>
              <a:rPr sz="2900" b="1" i="0">
                <a:solidFill>
                  <a:srgbClr val="13294B"/>
                </a:solidFill>
                <a:latin typeface="Cambria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1000" b="1" i="0">
                <a:solidFill>
                  <a:srgbClr val="13294B"/>
                </a:solidFill>
                <a:latin typeface="Calibri"/>
              </a:rPr>
              <a:t>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Oval 17409"/>
          <p:cNvSpPr/>
          <p:nvPr/>
        </p:nvSpPr>
        <p:spPr>
          <a:xfrm>
            <a:off x="329184" y="1147572"/>
            <a:ext cx="105156" cy="105156"/>
          </a:xfrm>
          <a:prstGeom prst="ellipse">
            <a:avLst/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1" name="TextBox 17410"/>
          <p:cNvSpPr txBox="1"/>
          <p:nvPr/>
        </p:nvSpPr>
        <p:spPr>
          <a:xfrm>
            <a:off x="521207" y="1097280"/>
            <a:ext cx="52943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3294B"/>
                </a:solidFill>
                <a:latin typeface="Cambria"/>
              </a:rPr>
              <a:t>Technologies to be used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329184" y="1421892"/>
            <a:ext cx="786384" cy="214884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Core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1225295" y="1408176"/>
            <a:ext cx="4892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0" b="0" i="0">
                <a:solidFill>
                  <a:srgbClr val="1A1A1A"/>
                </a:solidFill>
                <a:latin typeface="Calibri"/>
              </a:rPr>
              <a:t>Python 3.11  ·  NumPy  ·  SciPy  ·  scikit-learn  ·  Pillow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329184" y="1700784"/>
            <a:ext cx="786384" cy="214884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Vision</a:t>
            </a:r>
          </a:p>
        </p:txBody>
      </p:sp>
      <p:sp>
        <p:nvSpPr>
          <p:cNvPr id="17415" name="TextBox 17414"/>
          <p:cNvSpPr txBox="1"/>
          <p:nvPr/>
        </p:nvSpPr>
        <p:spPr>
          <a:xfrm>
            <a:off x="1225295" y="1687068"/>
            <a:ext cx="4892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0" b="0" i="0">
                <a:solidFill>
                  <a:srgbClr val="1A1A1A"/>
                </a:solidFill>
                <a:latin typeface="Calibri"/>
              </a:rPr>
              <a:t>PyTorch / TorchScript  ·  ONNX Runtime  ·  bundled ResNet-18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329184" y="1979676"/>
            <a:ext cx="786384" cy="214884"/>
          </a:xfrm>
          <a:prstGeom prst="roundRect">
            <a:avLst>
              <a:gd name="adj" fmla="val 50000"/>
            </a:avLst>
          </a:prstGeom>
          <a:solidFill>
            <a:srgbClr val="1A7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Crypto</a:t>
            </a:r>
          </a:p>
        </p:txBody>
      </p:sp>
      <p:sp>
        <p:nvSpPr>
          <p:cNvPr id="17417" name="TextBox 17416"/>
          <p:cNvSpPr txBox="1"/>
          <p:nvPr/>
        </p:nvSpPr>
        <p:spPr>
          <a:xfrm>
            <a:off x="1225295" y="1965960"/>
            <a:ext cx="4892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0" b="0" i="0">
                <a:solidFill>
                  <a:srgbClr val="1A1A1A"/>
                </a:solidFill>
                <a:latin typeface="Calibri"/>
              </a:rPr>
              <a:t>Ed25519 (cryptography)  ·  SHA-256 hash chains  ·  pHash</a:t>
            </a:r>
          </a:p>
        </p:txBody>
      </p:sp>
      <p:sp>
        <p:nvSpPr>
          <p:cNvPr id="17418" name="Rounded Rectangle 17417"/>
          <p:cNvSpPr/>
          <p:nvPr/>
        </p:nvSpPr>
        <p:spPr>
          <a:xfrm>
            <a:off x="329184" y="2258568"/>
            <a:ext cx="786384" cy="214884"/>
          </a:xfrm>
          <a:prstGeom prst="roundRect">
            <a:avLst>
              <a:gd name="adj" fmla="val 50000"/>
            </a:avLst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Formats</a:t>
            </a:r>
          </a:p>
        </p:txBody>
      </p:sp>
      <p:sp>
        <p:nvSpPr>
          <p:cNvPr id="17419" name="TextBox 17418"/>
          <p:cNvSpPr txBox="1"/>
          <p:nvPr/>
        </p:nvSpPr>
        <p:spPr>
          <a:xfrm>
            <a:off x="1225295" y="2244852"/>
            <a:ext cx="4892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0" b="0" i="0">
                <a:solidFill>
                  <a:srgbClr val="1A1A1A"/>
                </a:solidFill>
                <a:latin typeface="Calibri"/>
              </a:rPr>
              <a:t>COCO  ·  YOLO  ·  ImageFolder   |   ONNX  ·  TorchScript</a:t>
            </a:r>
          </a:p>
        </p:txBody>
      </p:sp>
      <p:sp>
        <p:nvSpPr>
          <p:cNvPr id="17420" name="Rounded Rectangle 17419"/>
          <p:cNvSpPr/>
          <p:nvPr/>
        </p:nvSpPr>
        <p:spPr>
          <a:xfrm>
            <a:off x="329184" y="2537460"/>
            <a:ext cx="786384" cy="214884"/>
          </a:xfrm>
          <a:prstGeom prst="roundRect">
            <a:avLst>
              <a:gd name="adj" fmla="val 50000"/>
            </a:avLst>
          </a:prstGeom>
          <a:solidFill>
            <a:srgbClr val="B06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Output</a:t>
            </a:r>
          </a:p>
        </p:txBody>
      </p:sp>
      <p:sp>
        <p:nvSpPr>
          <p:cNvPr id="17421" name="TextBox 17420"/>
          <p:cNvSpPr txBox="1"/>
          <p:nvPr/>
        </p:nvSpPr>
        <p:spPr>
          <a:xfrm>
            <a:off x="1225295" y="2523744"/>
            <a:ext cx="4892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0" b="0" i="0">
                <a:solidFill>
                  <a:srgbClr val="1A1A1A"/>
                </a:solidFill>
                <a:latin typeface="Calibri"/>
              </a:rPr>
              <a:t>Matplotlib  ·  Jinja2  ·  single-file offline HTML</a:t>
            </a:r>
          </a:p>
        </p:txBody>
      </p:sp>
      <p:sp>
        <p:nvSpPr>
          <p:cNvPr id="17422" name="Oval 17421"/>
          <p:cNvSpPr/>
          <p:nvPr/>
        </p:nvSpPr>
        <p:spPr>
          <a:xfrm>
            <a:off x="6446520" y="1147572"/>
            <a:ext cx="105156" cy="105156"/>
          </a:xfrm>
          <a:prstGeom prst="ellipse">
            <a:avLst/>
          </a:prstGeom>
          <a:solidFill>
            <a:srgbClr val="B06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3" name="TextBox 17422"/>
          <p:cNvSpPr txBox="1"/>
          <p:nvPr/>
        </p:nvSpPr>
        <p:spPr>
          <a:xfrm>
            <a:off x="6638544" y="1097280"/>
            <a:ext cx="52029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B06F00"/>
                </a:solidFill>
                <a:latin typeface="Cambria"/>
              </a:rPr>
              <a:t>Access tiers — declared, and enforced</a:t>
            </a:r>
          </a:p>
        </p:txBody>
      </p:sp>
      <p:sp>
        <p:nvSpPr>
          <p:cNvPr id="17424" name="Rounded Rectangle 17423"/>
          <p:cNvSpPr/>
          <p:nvPr/>
        </p:nvSpPr>
        <p:spPr>
          <a:xfrm>
            <a:off x="6446520" y="1389888"/>
            <a:ext cx="5413248" cy="1389888"/>
          </a:xfrm>
          <a:prstGeom prst="roundRect">
            <a:avLst/>
          </a:prstGeom>
          <a:solidFill>
            <a:srgbClr val="FFF8EC"/>
          </a:solidFill>
          <a:ln w="12700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5" name="Rounded Rectangle 17424"/>
          <p:cNvSpPr/>
          <p:nvPr/>
        </p:nvSpPr>
        <p:spPr>
          <a:xfrm>
            <a:off x="6583680" y="1499616"/>
            <a:ext cx="658368" cy="205740"/>
          </a:xfrm>
          <a:prstGeom prst="roundRect">
            <a:avLst>
              <a:gd name="adj" fmla="val 50000"/>
            </a:avLst>
          </a:prstGeom>
          <a:solidFill>
            <a:srgbClr val="1A7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Tier 0</a:t>
            </a:r>
          </a:p>
        </p:txBody>
      </p:sp>
      <p:sp>
        <p:nvSpPr>
          <p:cNvPr id="17426" name="TextBox 17425"/>
          <p:cNvSpPr txBox="1"/>
          <p:nvPr/>
        </p:nvSpPr>
        <p:spPr>
          <a:xfrm>
            <a:off x="7333488" y="1490472"/>
            <a:ext cx="440740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A7F4B"/>
                </a:solidFill>
                <a:latin typeface="Calibri"/>
              </a:rPr>
              <a:t>answers only</a:t>
            </a:r>
            <a:r>
              <a:rPr sz="1050" b="0" i="0">
                <a:solidFill>
                  <a:srgbClr val="5A6472"/>
                </a:solidFill>
                <a:latin typeface="Calibri"/>
              </a:rPr>
              <a:t>  →  </a:t>
            </a:r>
            <a:r>
              <a:rPr sz="1050" b="0" i="0">
                <a:solidFill>
                  <a:srgbClr val="1A1A1A"/>
                </a:solidFill>
                <a:latin typeface="Calibri"/>
              </a:rPr>
              <a:t>fingerprint + every data check</a:t>
            </a:r>
          </a:p>
        </p:txBody>
      </p:sp>
      <p:sp>
        <p:nvSpPr>
          <p:cNvPr id="17427" name="Rounded Rectangle 17426"/>
          <p:cNvSpPr/>
          <p:nvPr/>
        </p:nvSpPr>
        <p:spPr>
          <a:xfrm>
            <a:off x="6583680" y="1760219"/>
            <a:ext cx="658368" cy="20574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Tier 1</a:t>
            </a:r>
          </a:p>
        </p:txBody>
      </p:sp>
      <p:sp>
        <p:nvSpPr>
          <p:cNvPr id="17428" name="TextBox 17427"/>
          <p:cNvSpPr txBox="1"/>
          <p:nvPr/>
        </p:nvSpPr>
        <p:spPr>
          <a:xfrm>
            <a:off x="7333488" y="1751075"/>
            <a:ext cx="440740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C7293"/>
                </a:solidFill>
                <a:latin typeface="Calibri"/>
              </a:rPr>
              <a:t>+ weights</a:t>
            </a:r>
            <a:r>
              <a:rPr sz="1050" b="0" i="0">
                <a:solidFill>
                  <a:srgbClr val="5A6472"/>
                </a:solidFill>
                <a:latin typeface="Calibri"/>
              </a:rPr>
              <a:t>  →  </a:t>
            </a:r>
            <a:r>
              <a:rPr sz="1050" b="0" i="0">
                <a:solidFill>
                  <a:srgbClr val="1A1A1A"/>
                </a:solidFill>
                <a:latin typeface="Calibri"/>
              </a:rPr>
              <a:t>per-layer digest, weight statistics</a:t>
            </a:r>
          </a:p>
        </p:txBody>
      </p:sp>
      <p:sp>
        <p:nvSpPr>
          <p:cNvPr id="17429" name="Rounded Rectangle 17428"/>
          <p:cNvSpPr/>
          <p:nvPr/>
        </p:nvSpPr>
        <p:spPr>
          <a:xfrm>
            <a:off x="6583680" y="2020823"/>
            <a:ext cx="658368" cy="205740"/>
          </a:xfrm>
          <a:prstGeom prst="roundRect">
            <a:avLst>
              <a:gd name="adj" fmla="val 50000"/>
            </a:avLst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Tier 2</a:t>
            </a:r>
          </a:p>
        </p:txBody>
      </p:sp>
      <p:sp>
        <p:nvSpPr>
          <p:cNvPr id="17430" name="TextBox 17429"/>
          <p:cNvSpPr txBox="1"/>
          <p:nvPr/>
        </p:nvSpPr>
        <p:spPr>
          <a:xfrm>
            <a:off x="7333488" y="2011679"/>
            <a:ext cx="440740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3294B"/>
                </a:solidFill>
                <a:latin typeface="Calibri"/>
              </a:rPr>
              <a:t>+ internals</a:t>
            </a:r>
            <a:r>
              <a:rPr sz="1050" b="0" i="0">
                <a:solidFill>
                  <a:srgbClr val="5A6472"/>
                </a:solidFill>
                <a:latin typeface="Calibri"/>
              </a:rPr>
              <a:t>  →  </a:t>
            </a:r>
            <a:r>
              <a:rPr sz="1050" b="0" i="0">
                <a:solidFill>
                  <a:srgbClr val="1A1A1A"/>
                </a:solidFill>
                <a:latin typeface="Calibri"/>
              </a:rPr>
              <a:t>spectral signature, trigger reconstruction</a:t>
            </a:r>
          </a:p>
        </p:txBody>
      </p:sp>
      <p:sp>
        <p:nvSpPr>
          <p:cNvPr id="17431" name="TextBox 17430"/>
          <p:cNvSpPr txBox="1"/>
          <p:nvPr/>
        </p:nvSpPr>
        <p:spPr>
          <a:xfrm>
            <a:off x="6583680" y="2313432"/>
            <a:ext cx="5138928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B06F00"/>
                </a:solidFill>
                <a:latin typeface="Calibri"/>
              </a:rPr>
              <a:t>The handle refuses anything above the declared tier — even when the file format would allow it.</a:t>
            </a:r>
          </a:p>
        </p:txBody>
      </p:sp>
      <p:sp>
        <p:nvSpPr>
          <p:cNvPr id="17432" name="Oval 17431"/>
          <p:cNvSpPr/>
          <p:nvPr/>
        </p:nvSpPr>
        <p:spPr>
          <a:xfrm>
            <a:off x="329184" y="2994660"/>
            <a:ext cx="105156" cy="105156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3" name="TextBox 17432"/>
          <p:cNvSpPr txBox="1"/>
          <p:nvPr/>
        </p:nvSpPr>
        <p:spPr>
          <a:xfrm>
            <a:off x="521207" y="2944368"/>
            <a:ext cx="71231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C7293"/>
                </a:solidFill>
                <a:latin typeface="Cambria"/>
              </a:rPr>
              <a:t>Methodology — one pass over the intake, then one report</a:t>
            </a:r>
          </a:p>
        </p:txBody>
      </p:sp>
      <p:sp>
        <p:nvSpPr>
          <p:cNvPr id="17434" name="Rounded Rectangle 17433"/>
          <p:cNvSpPr/>
          <p:nvPr/>
        </p:nvSpPr>
        <p:spPr>
          <a:xfrm>
            <a:off x="329184" y="3255264"/>
            <a:ext cx="2002536" cy="1033271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1329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35" name="TextBox 17434"/>
          <p:cNvSpPr txBox="1"/>
          <p:nvPr/>
        </p:nvSpPr>
        <p:spPr>
          <a:xfrm>
            <a:off x="420623" y="3337560"/>
            <a:ext cx="181965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30" b="1" i="0">
                <a:solidFill>
                  <a:srgbClr val="13294B"/>
                </a:solidFill>
                <a:latin typeface="Cambria"/>
              </a:rPr>
              <a:t>1  INGEST</a:t>
            </a:r>
          </a:p>
        </p:txBody>
      </p:sp>
      <p:sp>
        <p:nvSpPr>
          <p:cNvPr id="17436" name="TextBox 17435"/>
          <p:cNvSpPr txBox="1"/>
          <p:nvPr/>
        </p:nvSpPr>
        <p:spPr>
          <a:xfrm>
            <a:off x="402336" y="3602736"/>
            <a:ext cx="1856231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40" b="0" i="0">
                <a:solidFill>
                  <a:srgbClr val="1A1A1A"/>
                </a:solidFill>
                <a:latin typeface="Calibri"/>
              </a:rPr>
              <a:t>COCO · YOLO · folder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40" b="0" i="0">
                <a:solidFill>
                  <a:srgbClr val="1A1A1A"/>
                </a:solidFill>
                <a:latin typeface="Calibri"/>
              </a:rPr>
              <a:t>ONNX · TorchScript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40" b="0" i="0">
                <a:solidFill>
                  <a:srgbClr val="1A1A1A"/>
                </a:solidFill>
                <a:latin typeface="Calibri"/>
              </a:rPr>
              <a:t>signed receipt log</a:t>
            </a:r>
          </a:p>
        </p:txBody>
      </p:sp>
      <p:sp>
        <p:nvSpPr>
          <p:cNvPr id="17437" name="Right Arrow 17436"/>
          <p:cNvSpPr/>
          <p:nvPr/>
        </p:nvSpPr>
        <p:spPr>
          <a:xfrm>
            <a:off x="2382012" y="3680460"/>
            <a:ext cx="228600" cy="182880"/>
          </a:xfrm>
          <a:prstGeom prst="rightArrow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8" name="Rounded Rectangle 17437"/>
          <p:cNvSpPr/>
          <p:nvPr/>
        </p:nvSpPr>
        <p:spPr>
          <a:xfrm>
            <a:off x="2660903" y="3255264"/>
            <a:ext cx="2002536" cy="1033271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39" name="TextBox 17438"/>
          <p:cNvSpPr txBox="1"/>
          <p:nvPr/>
        </p:nvSpPr>
        <p:spPr>
          <a:xfrm>
            <a:off x="2752344" y="3337560"/>
            <a:ext cx="181965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30" b="1" i="0">
                <a:solidFill>
                  <a:srgbClr val="1C7293"/>
                </a:solidFill>
                <a:latin typeface="Cambria"/>
              </a:rPr>
              <a:t>2  CHECK</a:t>
            </a:r>
          </a:p>
        </p:txBody>
      </p:sp>
      <p:sp>
        <p:nvSpPr>
          <p:cNvPr id="17440" name="TextBox 17439"/>
          <p:cNvSpPr txBox="1"/>
          <p:nvPr/>
        </p:nvSpPr>
        <p:spPr>
          <a:xfrm>
            <a:off x="2734056" y="3602736"/>
            <a:ext cx="1856231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40" b="0" i="0">
                <a:solidFill>
                  <a:srgbClr val="1A1A1A"/>
                </a:solidFill>
                <a:latin typeface="Calibri"/>
              </a:rPr>
              <a:t>data · model · shift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40" b="0" i="0">
                <a:solidFill>
                  <a:srgbClr val="1A1A1A"/>
                </a:solidFill>
                <a:latin typeface="Calibri"/>
              </a:rPr>
              <a:t>eleven detectors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40" b="0" i="0">
                <a:solidFill>
                  <a:srgbClr val="1A1A1A"/>
                </a:solidFill>
                <a:latin typeface="Calibri"/>
              </a:rPr>
              <a:t>graceful at every tier</a:t>
            </a:r>
          </a:p>
        </p:txBody>
      </p:sp>
      <p:sp>
        <p:nvSpPr>
          <p:cNvPr id="17441" name="Right Arrow 17440"/>
          <p:cNvSpPr/>
          <p:nvPr/>
        </p:nvSpPr>
        <p:spPr>
          <a:xfrm>
            <a:off x="4713731" y="3680460"/>
            <a:ext cx="228600" cy="182880"/>
          </a:xfrm>
          <a:prstGeom prst="rightArrow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2" name="Rounded Rectangle 17441"/>
          <p:cNvSpPr/>
          <p:nvPr/>
        </p:nvSpPr>
        <p:spPr>
          <a:xfrm>
            <a:off x="4992624" y="3255264"/>
            <a:ext cx="2002536" cy="1033271"/>
          </a:xfrm>
          <a:prstGeom prst="roundRect">
            <a:avLst/>
          </a:prstGeom>
          <a:solidFill>
            <a:srgbClr val="FDF0EE"/>
          </a:solidFill>
          <a:ln w="22225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43" name="TextBox 17442"/>
          <p:cNvSpPr txBox="1"/>
          <p:nvPr/>
        </p:nvSpPr>
        <p:spPr>
          <a:xfrm>
            <a:off x="5084064" y="3337560"/>
            <a:ext cx="181965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30" b="1" i="0">
                <a:solidFill>
                  <a:srgbClr val="C0392B"/>
                </a:solidFill>
                <a:latin typeface="Cambria"/>
              </a:rPr>
              <a:t>3  AGGREGATE</a:t>
            </a:r>
          </a:p>
        </p:txBody>
      </p:sp>
      <p:sp>
        <p:nvSpPr>
          <p:cNvPr id="17444" name="TextBox 17443"/>
          <p:cNvSpPr txBox="1"/>
          <p:nvPr/>
        </p:nvSpPr>
        <p:spPr>
          <a:xfrm>
            <a:off x="5065776" y="3602736"/>
            <a:ext cx="1856231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40" b="0" i="0">
                <a:solidFill>
                  <a:srgbClr val="1A1A1A"/>
                </a:solidFill>
                <a:latin typeface="Calibri"/>
              </a:rPr>
              <a:t>per-contributor risk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40" b="0" i="0">
                <a:solidFill>
                  <a:srgbClr val="1A1A1A"/>
                </a:solidFill>
                <a:latin typeface="Calibri"/>
              </a:rPr>
              <a:t>Beta-Binomial interval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40" b="0" i="0">
                <a:solidFill>
                  <a:srgbClr val="1A1A1A"/>
                </a:solidFill>
                <a:latin typeface="Calibri"/>
              </a:rPr>
              <a:t>accept / review / quarantine</a:t>
            </a:r>
          </a:p>
        </p:txBody>
      </p:sp>
      <p:sp>
        <p:nvSpPr>
          <p:cNvPr id="17445" name="Right Arrow 17444"/>
          <p:cNvSpPr/>
          <p:nvPr/>
        </p:nvSpPr>
        <p:spPr>
          <a:xfrm>
            <a:off x="7045452" y="3680460"/>
            <a:ext cx="228600" cy="182880"/>
          </a:xfrm>
          <a:prstGeom prst="rightArrow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6" name="Rounded Rectangle 17445"/>
          <p:cNvSpPr/>
          <p:nvPr/>
        </p:nvSpPr>
        <p:spPr>
          <a:xfrm>
            <a:off x="7324344" y="3255264"/>
            <a:ext cx="2002536" cy="1033271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1329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47" name="TextBox 17446"/>
          <p:cNvSpPr txBox="1"/>
          <p:nvPr/>
        </p:nvSpPr>
        <p:spPr>
          <a:xfrm>
            <a:off x="7415783" y="3337560"/>
            <a:ext cx="181965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30" b="1" i="0">
                <a:solidFill>
                  <a:srgbClr val="13294B"/>
                </a:solidFill>
                <a:latin typeface="Cambria"/>
              </a:rPr>
              <a:t>4  SCORE</a:t>
            </a:r>
          </a:p>
        </p:txBody>
      </p:sp>
      <p:sp>
        <p:nvSpPr>
          <p:cNvPr id="17448" name="TextBox 17447"/>
          <p:cNvSpPr txBox="1"/>
          <p:nvPr/>
        </p:nvSpPr>
        <p:spPr>
          <a:xfrm>
            <a:off x="7397496" y="3602736"/>
            <a:ext cx="1856231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40" b="0" i="0">
                <a:solidFill>
                  <a:srgbClr val="1A1A1A"/>
                </a:solidFill>
                <a:latin typeface="Calibri"/>
              </a:rPr>
              <a:t>AUROC · TPR@1%FPR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40" b="0" i="0">
                <a:solidFill>
                  <a:srgbClr val="1A1A1A"/>
                </a:solidFill>
                <a:latin typeface="Calibri"/>
              </a:rPr>
              <a:t>ECE + calibration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40" b="0" i="0">
                <a:solidFill>
                  <a:srgbClr val="1A1A1A"/>
                </a:solidFill>
                <a:latin typeface="Calibri"/>
              </a:rPr>
              <a:t>bootstrap intervals</a:t>
            </a:r>
          </a:p>
        </p:txBody>
      </p:sp>
      <p:sp>
        <p:nvSpPr>
          <p:cNvPr id="17449" name="Right Arrow 17448"/>
          <p:cNvSpPr/>
          <p:nvPr/>
        </p:nvSpPr>
        <p:spPr>
          <a:xfrm>
            <a:off x="9377172" y="3680460"/>
            <a:ext cx="228600" cy="182880"/>
          </a:xfrm>
          <a:prstGeom prst="rightArrow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50" name="Rounded Rectangle 17449"/>
          <p:cNvSpPr/>
          <p:nvPr/>
        </p:nvSpPr>
        <p:spPr>
          <a:xfrm>
            <a:off x="9656063" y="3255264"/>
            <a:ext cx="2002536" cy="1033271"/>
          </a:xfrm>
          <a:prstGeom prst="roundRect">
            <a:avLst/>
          </a:prstGeom>
          <a:solidFill>
            <a:srgbClr val="EAF5EF"/>
          </a:solidFill>
          <a:ln w="22225">
            <a:solidFill>
              <a:srgbClr val="1A7F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51" name="TextBox 17450"/>
          <p:cNvSpPr txBox="1"/>
          <p:nvPr/>
        </p:nvSpPr>
        <p:spPr>
          <a:xfrm>
            <a:off x="9747503" y="3337560"/>
            <a:ext cx="181965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30" b="1" i="0">
                <a:solidFill>
                  <a:srgbClr val="1A7F4B"/>
                </a:solidFill>
                <a:latin typeface="Cambria"/>
              </a:rPr>
              <a:t>5  REPORT</a:t>
            </a:r>
          </a:p>
        </p:txBody>
      </p:sp>
      <p:sp>
        <p:nvSpPr>
          <p:cNvPr id="17452" name="TextBox 17451"/>
          <p:cNvSpPr txBox="1"/>
          <p:nvPr/>
        </p:nvSpPr>
        <p:spPr>
          <a:xfrm>
            <a:off x="9729215" y="3602736"/>
            <a:ext cx="1856231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40" b="0" i="0">
                <a:solidFill>
                  <a:srgbClr val="1A1A1A"/>
                </a:solidFill>
                <a:latin typeface="Calibri"/>
              </a:rPr>
              <a:t>traffic-light verdict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40" b="0" i="0">
                <a:solidFill>
                  <a:srgbClr val="1A1A1A"/>
                </a:solidFill>
                <a:latin typeface="Calibri"/>
              </a:rPr>
              <a:t>coverage + limitations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40" b="0" i="0">
                <a:solidFill>
                  <a:srgbClr val="1A1A1A"/>
                </a:solidFill>
                <a:latin typeface="Calibri"/>
              </a:rPr>
              <a:t>hash-chained audit log</a:t>
            </a:r>
          </a:p>
        </p:txBody>
      </p:sp>
      <p:sp>
        <p:nvSpPr>
          <p:cNvPr id="17453" name="Rounded Rectangle 17452"/>
          <p:cNvSpPr/>
          <p:nvPr/>
        </p:nvSpPr>
        <p:spPr>
          <a:xfrm>
            <a:off x="329184" y="4416551"/>
            <a:ext cx="11530584" cy="658368"/>
          </a:xfrm>
          <a:prstGeom prst="roundRect">
            <a:avLst/>
          </a:prstGeom>
          <a:solidFill>
            <a:srgbClr val="EEF2F6"/>
          </a:solidFill>
          <a:ln w="12700">
            <a:solidFill>
              <a:srgbClr val="5A64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54" name="TextBox 17453"/>
          <p:cNvSpPr txBox="1"/>
          <p:nvPr/>
        </p:nvSpPr>
        <p:spPr>
          <a:xfrm>
            <a:off x="493776" y="4498847"/>
            <a:ext cx="1120140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80" b="1" i="0">
                <a:solidFill>
                  <a:srgbClr val="13294B"/>
                </a:solidFill>
                <a:latin typeface="Calibri"/>
              </a:rPr>
              <a:t>Validated blind:  </a:t>
            </a:r>
            <a:r>
              <a:rPr sz="1080" b="0" i="0">
                <a:solidFill>
                  <a:srgbClr val="1A1A1A"/>
                </a:solidFill>
                <a:latin typeface="Calibri"/>
              </a:rPr>
              <a:t>a seeded attack harness poisons the data and keeps the answer key in a separate folder.  </a:t>
            </a:r>
            <a:r>
              <a:rPr sz="1080" b="1" i="0">
                <a:solidFill>
                  <a:srgbClr val="C0392B"/>
                </a:solidFill>
                <a:latin typeface="Calibri"/>
              </a:rPr>
              <a:t>detect/ cannot import attack/</a:t>
            </a:r>
            <a:r>
              <a:rPr sz="1080" b="0" i="0">
                <a:solidFill>
                  <a:srgbClr val="1A1A1A"/>
                </a:solidFill>
                <a:latin typeface="Calibri"/>
              </a:rPr>
              <a:t> — a test reads the source and fails the build if it ever could.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5A6472"/>
                </a:solidFill>
                <a:latin typeface="Calibri"/>
              </a:rPr>
              <a:t>No retraining anywhere in the audit (PS 2.2.6)  ·  --offline-assert replaces the socket layer and fails the run if anything reaches the network  ·  encoder weights bundled in the repo.</a:t>
            </a:r>
          </a:p>
        </p:txBody>
      </p:sp>
      <p:sp>
        <p:nvSpPr>
          <p:cNvPr id="17455" name="Oval 17454"/>
          <p:cNvSpPr/>
          <p:nvPr/>
        </p:nvSpPr>
        <p:spPr>
          <a:xfrm>
            <a:off x="329184" y="5280659"/>
            <a:ext cx="105156" cy="105156"/>
          </a:xfrm>
          <a:prstGeom prst="ellipse">
            <a:avLst/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56" name="TextBox 17455"/>
          <p:cNvSpPr txBox="1"/>
          <p:nvPr/>
        </p:nvSpPr>
        <p:spPr>
          <a:xfrm>
            <a:off x="521207" y="5230368"/>
            <a:ext cx="71231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3294B"/>
                </a:solidFill>
                <a:latin typeface="Cambria"/>
              </a:rPr>
              <a:t>The eleven checks, and the tier each one needs</a:t>
            </a:r>
          </a:p>
        </p:txBody>
      </p:sp>
      <p:sp>
        <p:nvSpPr>
          <p:cNvPr id="17457" name="Rounded Rectangle 17456"/>
          <p:cNvSpPr/>
          <p:nvPr/>
        </p:nvSpPr>
        <p:spPr>
          <a:xfrm>
            <a:off x="329184" y="5541264"/>
            <a:ext cx="1025956" cy="274320"/>
          </a:xfrm>
          <a:prstGeom prst="roundRect">
            <a:avLst>
              <a:gd name="adj" fmla="val 50000"/>
            </a:avLst>
          </a:prstGeom>
          <a:solidFill>
            <a:srgbClr val="1A7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80" b="1" i="0">
                <a:solidFill>
                  <a:srgbClr val="FFFFFF"/>
                </a:solidFill>
                <a:latin typeface="Calibri"/>
              </a:rPr>
              <a:t>near_duplicate</a:t>
            </a:r>
          </a:p>
        </p:txBody>
      </p:sp>
      <p:sp>
        <p:nvSpPr>
          <p:cNvPr id="17458" name="Rounded Rectangle 17457"/>
          <p:cNvSpPr/>
          <p:nvPr/>
        </p:nvSpPr>
        <p:spPr>
          <a:xfrm>
            <a:off x="1446580" y="5541264"/>
            <a:ext cx="291693" cy="274320"/>
          </a:xfrm>
          <a:prstGeom prst="roundRect">
            <a:avLst>
              <a:gd name="adj" fmla="val 50000"/>
            </a:avLst>
          </a:prstGeom>
          <a:solidFill>
            <a:srgbClr val="1A7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80" b="1" i="0">
                <a:solidFill>
                  <a:srgbClr val="FFFFFF"/>
                </a:solidFill>
                <a:latin typeface="Calibri"/>
              </a:rPr>
              <a:t>ood</a:t>
            </a:r>
          </a:p>
        </p:txBody>
      </p:sp>
      <p:sp>
        <p:nvSpPr>
          <p:cNvPr id="17459" name="Rounded Rectangle 17458"/>
          <p:cNvSpPr/>
          <p:nvPr/>
        </p:nvSpPr>
        <p:spPr>
          <a:xfrm>
            <a:off x="1829714" y="5541264"/>
            <a:ext cx="825703" cy="274320"/>
          </a:xfrm>
          <a:prstGeom prst="roundRect">
            <a:avLst>
              <a:gd name="adj" fmla="val 50000"/>
            </a:avLst>
          </a:prstGeom>
          <a:solidFill>
            <a:srgbClr val="1A7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80" b="1" i="0">
                <a:solidFill>
                  <a:srgbClr val="FFFFFF"/>
                </a:solidFill>
                <a:latin typeface="Calibri"/>
              </a:rPr>
              <a:t>label_noise</a:t>
            </a:r>
          </a:p>
        </p:txBody>
      </p:sp>
      <p:sp>
        <p:nvSpPr>
          <p:cNvPr id="17460" name="Rounded Rectangle 17459"/>
          <p:cNvSpPr/>
          <p:nvPr/>
        </p:nvSpPr>
        <p:spPr>
          <a:xfrm>
            <a:off x="2746857" y="5541264"/>
            <a:ext cx="892454" cy="274320"/>
          </a:xfrm>
          <a:prstGeom prst="roundRect">
            <a:avLst>
              <a:gd name="adj" fmla="val 50000"/>
            </a:avLst>
          </a:prstGeom>
          <a:solidFill>
            <a:srgbClr val="1A7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80" b="1" i="0">
                <a:solidFill>
                  <a:srgbClr val="FFFFFF"/>
                </a:solidFill>
                <a:latin typeface="Calibri"/>
              </a:rPr>
              <a:t>trigger_freq</a:t>
            </a:r>
          </a:p>
        </p:txBody>
      </p:sp>
      <p:sp>
        <p:nvSpPr>
          <p:cNvPr id="17461" name="Rounded Rectangle 17460"/>
          <p:cNvSpPr/>
          <p:nvPr/>
        </p:nvSpPr>
        <p:spPr>
          <a:xfrm>
            <a:off x="3730752" y="5541264"/>
            <a:ext cx="825703" cy="27432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80" b="1" i="0">
                <a:solidFill>
                  <a:srgbClr val="FFFFFF"/>
                </a:solidFill>
                <a:latin typeface="Calibri"/>
              </a:rPr>
              <a:t>contributor</a:t>
            </a:r>
          </a:p>
        </p:txBody>
      </p:sp>
      <p:sp>
        <p:nvSpPr>
          <p:cNvPr id="17462" name="Rounded Rectangle 17461"/>
          <p:cNvSpPr/>
          <p:nvPr/>
        </p:nvSpPr>
        <p:spPr>
          <a:xfrm>
            <a:off x="4647895" y="5541264"/>
            <a:ext cx="425196" cy="274320"/>
          </a:xfrm>
          <a:prstGeom prst="roundRect">
            <a:avLst>
              <a:gd name="adj" fmla="val 50000"/>
            </a:avLst>
          </a:prstGeom>
          <a:solidFill>
            <a:srgbClr val="1A7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80" b="1" i="0">
                <a:solidFill>
                  <a:srgbClr val="FFFFFF"/>
                </a:solidFill>
                <a:latin typeface="Calibri"/>
              </a:rPr>
              <a:t>shift</a:t>
            </a:r>
          </a:p>
        </p:txBody>
      </p:sp>
      <p:sp>
        <p:nvSpPr>
          <p:cNvPr id="17463" name="Rounded Rectangle 17462"/>
          <p:cNvSpPr/>
          <p:nvPr/>
        </p:nvSpPr>
        <p:spPr>
          <a:xfrm>
            <a:off x="5164531" y="5541264"/>
            <a:ext cx="1092708" cy="274320"/>
          </a:xfrm>
          <a:prstGeom prst="roundRect">
            <a:avLst>
              <a:gd name="adj" fmla="val 50000"/>
            </a:avLst>
          </a:prstGeom>
          <a:solidFill>
            <a:srgbClr val="1A7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80" b="1" i="0">
                <a:solidFill>
                  <a:srgbClr val="FFFFFF"/>
                </a:solidFill>
                <a:latin typeface="Calibri"/>
              </a:rPr>
              <a:t>fingerprint  t0</a:t>
            </a:r>
          </a:p>
        </p:txBody>
      </p:sp>
      <p:sp>
        <p:nvSpPr>
          <p:cNvPr id="17464" name="Rounded Rectangle 17463"/>
          <p:cNvSpPr/>
          <p:nvPr/>
        </p:nvSpPr>
        <p:spPr>
          <a:xfrm>
            <a:off x="6348679" y="5541264"/>
            <a:ext cx="1226210" cy="27432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80" b="1" i="0">
                <a:solidFill>
                  <a:srgbClr val="FFFFFF"/>
                </a:solidFill>
                <a:latin typeface="Calibri"/>
              </a:rPr>
              <a:t>weight_digest  t1</a:t>
            </a:r>
          </a:p>
        </p:txBody>
      </p:sp>
      <p:sp>
        <p:nvSpPr>
          <p:cNvPr id="17465" name="Rounded Rectangle 17464"/>
          <p:cNvSpPr/>
          <p:nvPr/>
        </p:nvSpPr>
        <p:spPr>
          <a:xfrm>
            <a:off x="7666329" y="5541264"/>
            <a:ext cx="1159459" cy="27432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80" b="1" i="0">
                <a:solidFill>
                  <a:srgbClr val="FFFFFF"/>
                </a:solidFill>
                <a:latin typeface="Calibri"/>
              </a:rPr>
              <a:t>weight_stats  t1</a:t>
            </a:r>
          </a:p>
        </p:txBody>
      </p:sp>
      <p:sp>
        <p:nvSpPr>
          <p:cNvPr id="17466" name="Rounded Rectangle 17465"/>
          <p:cNvSpPr/>
          <p:nvPr/>
        </p:nvSpPr>
        <p:spPr>
          <a:xfrm>
            <a:off x="8917228" y="5541264"/>
            <a:ext cx="1559966" cy="274320"/>
          </a:xfrm>
          <a:prstGeom prst="roundRect">
            <a:avLst>
              <a:gd name="adj" fmla="val 50000"/>
            </a:avLst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80" b="1" i="0">
                <a:solidFill>
                  <a:srgbClr val="FFFFFF"/>
                </a:solidFill>
                <a:latin typeface="Calibri"/>
              </a:rPr>
              <a:t>spectral_signature  t2</a:t>
            </a:r>
          </a:p>
        </p:txBody>
      </p:sp>
      <p:sp>
        <p:nvSpPr>
          <p:cNvPr id="17467" name="Rounded Rectangle 17466"/>
          <p:cNvSpPr/>
          <p:nvPr/>
        </p:nvSpPr>
        <p:spPr>
          <a:xfrm>
            <a:off x="10568635" y="5541264"/>
            <a:ext cx="1226210" cy="274320"/>
          </a:xfrm>
          <a:prstGeom prst="roundRect">
            <a:avLst>
              <a:gd name="adj" fmla="val 50000"/>
            </a:avLst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80" b="1" i="0">
                <a:solidFill>
                  <a:srgbClr val="FFFFFF"/>
                </a:solidFill>
                <a:latin typeface="Calibri"/>
              </a:rPr>
              <a:t>trigger_recon  t2</a:t>
            </a:r>
          </a:p>
        </p:txBody>
      </p:sp>
      <p:sp>
        <p:nvSpPr>
          <p:cNvPr id="17468" name="TextBox 17467"/>
          <p:cNvSpPr txBox="1"/>
          <p:nvPr/>
        </p:nvSpPr>
        <p:spPr>
          <a:xfrm>
            <a:off x="329184" y="5907024"/>
            <a:ext cx="115214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9" b="0" i="1">
                <a:solidFill>
                  <a:srgbClr val="5A6472"/>
                </a:solidFill>
                <a:latin typeface="Calibri"/>
              </a:rPr>
              <a:t>Every one degrades to a clean 'we could not check this, and here is why' at a lower tier — never a crash, never an invented number. A test runs the whole suite at tier 0 and asserts zero crashes.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eaLnBrk="1" hangingPunct="1" algn="ctr"/>
            <a:r>
              <a:rPr sz="2900" b="1" i="0">
                <a:solidFill>
                  <a:srgbClr val="13294B"/>
                </a:solidFill>
                <a:latin typeface="Cambria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1000" b="1" i="0">
                <a:solidFill>
                  <a:srgbClr val="13294B"/>
                </a:solidFill>
                <a:latin typeface="Calibri"/>
              </a:rPr>
              <a:t>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Oval 17409"/>
          <p:cNvSpPr/>
          <p:nvPr/>
        </p:nvSpPr>
        <p:spPr>
          <a:xfrm>
            <a:off x="329184" y="1129284"/>
            <a:ext cx="105156" cy="105156"/>
          </a:xfrm>
          <a:prstGeom prst="ellipse">
            <a:avLst/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1" name="TextBox 17410"/>
          <p:cNvSpPr txBox="1"/>
          <p:nvPr/>
        </p:nvSpPr>
        <p:spPr>
          <a:xfrm>
            <a:off x="521207" y="1078992"/>
            <a:ext cx="58430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3294B"/>
                </a:solidFill>
                <a:latin typeface="Cambria"/>
              </a:rPr>
              <a:t>Measured, not asserted — 225 cells, 3 seeds each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329184" y="1371600"/>
            <a:ext cx="5870448" cy="3364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13" name="Picture 17412" descr="chart_sw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528" y="1463040"/>
            <a:ext cx="4750040" cy="2761488"/>
          </a:xfrm>
          <a:prstGeom prst="rect">
            <a:avLst/>
          </a:prstGeom>
        </p:spPr>
      </p:pic>
      <p:sp>
        <p:nvSpPr>
          <p:cNvPr id="17414" name="TextBox 17413"/>
          <p:cNvSpPr txBox="1"/>
          <p:nvPr/>
        </p:nvSpPr>
        <p:spPr>
          <a:xfrm>
            <a:off x="475488" y="4352544"/>
            <a:ext cx="559612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60" b="0" i="1">
                <a:solidFill>
                  <a:srgbClr val="5A6472"/>
                </a:solidFill>
                <a:latin typeface="Calibri"/>
              </a:rPr>
              <a:t>Four attacks hold above 'strong' down to 1% poison. Blended triggers do not — and we say so.</a:t>
            </a:r>
          </a:p>
        </p:txBody>
      </p:sp>
      <p:sp>
        <p:nvSpPr>
          <p:cNvPr id="17415" name="Oval 17414"/>
          <p:cNvSpPr/>
          <p:nvPr/>
        </p:nvSpPr>
        <p:spPr>
          <a:xfrm>
            <a:off x="6537960" y="1129284"/>
            <a:ext cx="105156" cy="105156"/>
          </a:xfrm>
          <a:prstGeom prst="ellipse">
            <a:avLst/>
          </a:prstGeom>
          <a:solidFill>
            <a:srgbClr val="1A7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6" name="TextBox 17415"/>
          <p:cNvSpPr txBox="1"/>
          <p:nvPr/>
        </p:nvSpPr>
        <p:spPr>
          <a:xfrm>
            <a:off x="6729984" y="1078992"/>
            <a:ext cx="51114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A7F4B"/>
                </a:solidFill>
                <a:latin typeface="Cambria"/>
              </a:rPr>
              <a:t>Analysis of the feasibility</a:t>
            </a:r>
          </a:p>
        </p:txBody>
      </p:sp>
      <p:sp>
        <p:nvSpPr>
          <p:cNvPr id="17417" name="Rounded Rectangle 17416"/>
          <p:cNvSpPr/>
          <p:nvPr/>
        </p:nvSpPr>
        <p:spPr>
          <a:xfrm>
            <a:off x="6537960" y="1371600"/>
            <a:ext cx="5321808" cy="1280160"/>
          </a:xfrm>
          <a:prstGeom prst="roundRect">
            <a:avLst/>
          </a:prstGeom>
          <a:solidFill>
            <a:srgbClr val="EAF5EF"/>
          </a:solidFill>
          <a:ln w="12700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8" name="TextBox 17417"/>
          <p:cNvSpPr txBox="1"/>
          <p:nvPr/>
        </p:nvSpPr>
        <p:spPr>
          <a:xfrm>
            <a:off x="6693408" y="1472184"/>
            <a:ext cx="50292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80" b="1" i="0">
                <a:solidFill>
                  <a:srgbClr val="1A7F4B"/>
                </a:solidFill>
                <a:latin typeface="Calibri"/>
              </a:rPr>
              <a:t>✓ </a:t>
            </a:r>
            <a:r>
              <a:rPr sz="1080" b="1" i="0">
                <a:solidFill>
                  <a:srgbClr val="13294B"/>
                </a:solidFill>
                <a:latin typeface="Calibri"/>
              </a:rPr>
              <a:t>Already built and measured.</a:t>
            </a:r>
            <a:r>
              <a:rPr sz="1080" b="0" i="0">
                <a:solidFill>
                  <a:srgbClr val="1A1A1A"/>
                </a:solidFill>
                <a:latin typeface="Calibri"/>
              </a:rPr>
              <a:t> Not a concept — 273 tests, 225 swept cells, four results tables.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80" b="1" i="0">
                <a:solidFill>
                  <a:srgbClr val="1A7F4B"/>
                </a:solidFill>
                <a:latin typeface="Calibri"/>
              </a:rPr>
              <a:t>✓ </a:t>
            </a:r>
            <a:r>
              <a:rPr sz="1080" b="1" i="0">
                <a:solidFill>
                  <a:srgbClr val="13294B"/>
                </a:solidFill>
                <a:latin typeface="Calibri"/>
              </a:rPr>
              <a:t>Commodity hardware.</a:t>
            </a:r>
            <a:r>
              <a:rPr sz="1080" b="0" i="0">
                <a:solidFill>
                  <a:srgbClr val="1A1A1A"/>
                </a:solidFill>
                <a:latin typeface="Calibri"/>
              </a:rPr>
              <a:t> 347 images audited in 13 s on a laptop CPU. No GPU, no cluster, no cloud.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80" b="1" i="0">
                <a:solidFill>
                  <a:srgbClr val="1A7F4B"/>
                </a:solidFill>
                <a:latin typeface="Calibri"/>
              </a:rPr>
              <a:t>✓ </a:t>
            </a:r>
            <a:r>
              <a:rPr sz="1080" b="1" i="0">
                <a:solidFill>
                  <a:srgbClr val="13294B"/>
                </a:solidFill>
                <a:latin typeface="Calibri"/>
              </a:rPr>
              <a:t>Deploys into an air-gap.</a:t>
            </a:r>
            <a:r>
              <a:rPr sz="1080" b="0" i="0">
                <a:solidFill>
                  <a:srgbClr val="1A1A1A"/>
                </a:solidFill>
                <a:latin typeface="Calibri"/>
              </a:rPr>
              <a:t> Encoder weights ship inside the repository; nothing is downloaded.</a:t>
            </a:r>
          </a:p>
        </p:txBody>
      </p:sp>
      <p:sp>
        <p:nvSpPr>
          <p:cNvPr id="17419" name="Oval 17418"/>
          <p:cNvSpPr/>
          <p:nvPr/>
        </p:nvSpPr>
        <p:spPr>
          <a:xfrm>
            <a:off x="6537960" y="2811780"/>
            <a:ext cx="105156" cy="105156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0" name="TextBox 17419"/>
          <p:cNvSpPr txBox="1"/>
          <p:nvPr/>
        </p:nvSpPr>
        <p:spPr>
          <a:xfrm>
            <a:off x="6729984" y="2761488"/>
            <a:ext cx="51114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C0392B"/>
                </a:solidFill>
                <a:latin typeface="Cambria"/>
              </a:rPr>
              <a:t>Potential challenges and risks  →  strategies</a:t>
            </a:r>
          </a:p>
        </p:txBody>
      </p:sp>
      <p:sp>
        <p:nvSpPr>
          <p:cNvPr id="17421" name="Rounded Rectangle 17420"/>
          <p:cNvSpPr/>
          <p:nvPr/>
        </p:nvSpPr>
        <p:spPr>
          <a:xfrm>
            <a:off x="6537960" y="3054096"/>
            <a:ext cx="5321808" cy="15910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2" name="TextBox 17421"/>
          <p:cNvSpPr txBox="1"/>
          <p:nvPr/>
        </p:nvSpPr>
        <p:spPr>
          <a:xfrm>
            <a:off x="6693408" y="3154680"/>
            <a:ext cx="502920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C0392B"/>
                </a:solidFill>
                <a:latin typeface="Calibri"/>
              </a:rPr>
              <a:t>!  </a:t>
            </a:r>
            <a:r>
              <a:rPr sz="1050" b="1" i="0">
                <a:solidFill>
                  <a:srgbClr val="13294B"/>
                </a:solidFill>
                <a:latin typeface="Calibri"/>
              </a:rPr>
              <a:t>Faint blended triggers evade us (0.20).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A7F4B"/>
                </a:solidFill>
                <a:latin typeface="Calibri"/>
              </a:rPr>
              <a:t>    → </a:t>
            </a:r>
            <a:r>
              <a:rPr sz="1000" b="0" i="0">
                <a:solidFill>
                  <a:srgbClr val="1A1A1A"/>
                </a:solidFill>
                <a:latin typeface="Calibri"/>
              </a:rPr>
              <a:t>Reported as unsupported, not hidden. Tier-2 spectral check is the next build.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050" b="1" i="0">
                <a:solidFill>
                  <a:srgbClr val="C0392B"/>
                </a:solidFill>
                <a:latin typeface="Calibri"/>
              </a:rPr>
              <a:t>!  </a:t>
            </a:r>
            <a:r>
              <a:rPr sz="1050" b="1" i="0">
                <a:solidFill>
                  <a:srgbClr val="13294B"/>
                </a:solidFill>
                <a:latin typeface="Calibri"/>
              </a:rPr>
              <a:t>No contributor metadata in the intake.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A7F4B"/>
                </a:solidFill>
                <a:latin typeface="Calibri"/>
              </a:rPr>
              <a:t>    → </a:t>
            </a:r>
            <a:r>
              <a:rPr sz="1000" b="0" i="0">
                <a:solidFill>
                  <a:srgbClr val="1A1A1A"/>
                </a:solidFill>
                <a:latin typeface="Calibri"/>
              </a:rPr>
              <a:t>Regex fallback on paths; otherwise the report says so instead of guessing.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050" b="1" i="0">
                <a:solidFill>
                  <a:srgbClr val="C0392B"/>
                </a:solidFill>
                <a:latin typeface="Calibri"/>
              </a:rPr>
              <a:t>!  </a:t>
            </a:r>
            <a:r>
              <a:rPr sz="1050" b="1" i="0">
                <a:solidFill>
                  <a:srgbClr val="13294B"/>
                </a:solidFill>
                <a:latin typeface="Calibri"/>
              </a:rPr>
              <a:t>Vendor supplies a black box.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A7F4B"/>
                </a:solidFill>
                <a:latin typeface="Calibri"/>
              </a:rPr>
              <a:t>    → </a:t>
            </a:r>
            <a:r>
              <a:rPr sz="1000" b="0" i="0">
                <a:solidFill>
                  <a:srgbClr val="1A1A1A"/>
                </a:solidFill>
                <a:latin typeface="Calibri"/>
              </a:rPr>
              <a:t>Fingerprinting still proves substitution at tier 0; coverage marks the rest.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050" b="1" i="0">
                <a:solidFill>
                  <a:srgbClr val="C0392B"/>
                </a:solidFill>
                <a:latin typeface="Calibri"/>
              </a:rPr>
              <a:t>!  </a:t>
            </a:r>
            <a:r>
              <a:rPr sz="1050" b="1" i="0">
                <a:solidFill>
                  <a:srgbClr val="13294B"/>
                </a:solidFill>
                <a:latin typeface="Calibri"/>
              </a:rPr>
              <a:t>An attacker who knows our checks.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A7F4B"/>
                </a:solidFill>
                <a:latin typeface="Calibri"/>
              </a:rPr>
              <a:t>    → </a:t>
            </a:r>
            <a:r>
              <a:rPr sz="1000" b="0" i="0">
                <a:solidFill>
                  <a:srgbClr val="1A1A1A"/>
                </a:solidFill>
                <a:latin typeface="Calibri"/>
              </a:rPr>
              <a:t>Stated in every report. The detector set is pluggable and instantly measurable.</a:t>
            </a:r>
          </a:p>
        </p:txBody>
      </p:sp>
      <p:sp>
        <p:nvSpPr>
          <p:cNvPr id="17423" name="Oval 17422"/>
          <p:cNvSpPr/>
          <p:nvPr/>
        </p:nvSpPr>
        <p:spPr>
          <a:xfrm>
            <a:off x="329184" y="4878324"/>
            <a:ext cx="105156" cy="105156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4" name="TextBox 17423"/>
          <p:cNvSpPr txBox="1"/>
          <p:nvPr/>
        </p:nvSpPr>
        <p:spPr>
          <a:xfrm>
            <a:off x="521207" y="4828032"/>
            <a:ext cx="71231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C7293"/>
                </a:solidFill>
                <a:latin typeface="Cambria"/>
              </a:rPr>
              <a:t>Measured coverage — graded on the median cell, never the best</a:t>
            </a:r>
          </a:p>
        </p:txBody>
      </p:sp>
      <p:graphicFrame>
        <p:nvGraphicFramePr>
          <p:cNvPr id="17425" name="Table 17424"/>
          <p:cNvGraphicFramePr>
            <a:graphicFrameLocks noGrp="1"/>
          </p:cNvGraphicFramePr>
          <p:nvPr/>
        </p:nvGraphicFramePr>
        <p:xfrm>
          <a:off x="329184" y="5120640"/>
          <a:ext cx="11530583" cy="105613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60520"/>
                <a:gridCol w="1783080"/>
                <a:gridCol w="2011680"/>
                <a:gridCol w="1508760"/>
                <a:gridCol w="2066543"/>
              </a:tblGrid>
              <a:tr h="150876">
                <a:tc>
                  <a:txBody>
                    <a:bodyPr wrap="none"/>
                    <a:lstStyle/>
                    <a:p>
                      <a:pPr algn="l"/>
                      <a:r>
                        <a:rPr sz="960" b="1" i="0">
                          <a:solidFill>
                            <a:srgbClr val="FFFFFF"/>
                          </a:solidFill>
                          <a:latin typeface="Calibri"/>
                        </a:rPr>
                        <a:t>What an attacker did</a:t>
                      </a:r>
                    </a:p>
                  </a:txBody>
                  <a:tcPr marL="54864" marR="36576" marT="0" marB="0" anchor="ctr">
                    <a:solidFill>
                      <a:srgbClr val="13294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60" b="1" i="0">
                          <a:solidFill>
                            <a:srgbClr val="FFFFFF"/>
                          </a:solidFill>
                          <a:latin typeface="Calibri"/>
                        </a:rPr>
                        <a:t>Typical TPR@1%FPR</a:t>
                      </a:r>
                    </a:p>
                  </a:txBody>
                  <a:tcPr marL="54864" marR="36576" marT="0" marB="0" anchor="ctr">
                    <a:solidFill>
                      <a:srgbClr val="13294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60" b="1" i="0">
                          <a:solidFill>
                            <a:srgbClr val="FFFFFF"/>
                          </a:solidFill>
                          <a:latin typeface="Calibri"/>
                        </a:rPr>
                        <a:t>Range</a:t>
                      </a:r>
                    </a:p>
                  </a:txBody>
                  <a:tcPr marL="54864" marR="36576" marT="0" marB="0" anchor="ctr">
                    <a:solidFill>
                      <a:srgbClr val="13294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60" b="1" i="0">
                          <a:solidFill>
                            <a:srgbClr val="FFFFFF"/>
                          </a:solidFill>
                          <a:latin typeface="Calibri"/>
                        </a:rPr>
                        <a:t>False alarms</a:t>
                      </a:r>
                    </a:p>
                  </a:txBody>
                  <a:tcPr marL="54864" marR="36576" marT="0" marB="0" anchor="ctr">
                    <a:solidFill>
                      <a:srgbClr val="13294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60" b="1" i="0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 marL="54864" marR="36576" marT="0" marB="0" anchor="ctr">
                    <a:solidFill>
                      <a:srgbClr val="13294B"/>
                    </a:solidFill>
                  </a:tcPr>
                </a:tc>
              </a:tr>
              <a:tr h="150876">
                <a:tc>
                  <a:txBody>
                    <a:bodyPr wrap="none"/>
                    <a:lstStyle/>
                    <a:p>
                      <a:pPr algn="l"/>
                      <a:r>
                        <a:rPr sz="960" b="0" i="0">
                          <a:solidFill>
                            <a:srgbClr val="1A1A1A"/>
                          </a:solidFill>
                          <a:latin typeface="Calibri"/>
                        </a:rPr>
                        <a:t>The same photograph submitted many times</a:t>
                      </a:r>
                    </a:p>
                  </a:txBody>
                  <a:tcPr marL="54864" marR="36576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60" b="1" i="0">
                          <a:solidFill>
                            <a:srgbClr val="1A1A1A"/>
                          </a:solidFill>
                          <a:latin typeface="Calibri"/>
                        </a:rPr>
                        <a:t>1.00</a:t>
                      </a:r>
                    </a:p>
                  </a:txBody>
                  <a:tcPr marL="54864" marR="36576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60" b="0" i="0">
                          <a:solidFill>
                            <a:srgbClr val="1A1A1A"/>
                          </a:solidFill>
                          <a:latin typeface="Calibri"/>
                        </a:rPr>
                        <a:t>0.45 – 1.00</a:t>
                      </a:r>
                    </a:p>
                  </a:txBody>
                  <a:tcPr marL="54864" marR="36576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60" b="0" i="0">
                          <a:solidFill>
                            <a:srgbClr val="1A1A1A"/>
                          </a:solidFill>
                          <a:latin typeface="Calibri"/>
                        </a:rPr>
                        <a:t>3.0%</a:t>
                      </a:r>
                    </a:p>
                  </a:txBody>
                  <a:tcPr marL="54864" marR="36576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60" b="1" i="0">
                          <a:solidFill>
                            <a:srgbClr val="1A7F4B"/>
                          </a:solidFill>
                          <a:latin typeface="Calibri"/>
                        </a:rPr>
                        <a:t>strong</a:t>
                      </a:r>
                    </a:p>
                  </a:txBody>
                  <a:tcPr marL="54864" marR="36576" marT="0" marB="0" anchor="ctr">
                    <a:solidFill>
                      <a:srgbClr val="FFFFFF"/>
                    </a:solidFill>
                  </a:tcPr>
                </a:tc>
              </a:tr>
              <a:tr h="150876">
                <a:tc>
                  <a:txBody>
                    <a:bodyPr wrap="none"/>
                    <a:lstStyle/>
                    <a:p>
                      <a:pPr algn="l"/>
                      <a:r>
                        <a:rPr sz="960" b="0" i="0">
                          <a:solidFill>
                            <a:srgbClr val="1A1A1A"/>
                          </a:solidFill>
                          <a:latin typeface="Calibri"/>
                        </a:rPr>
                        <a:t>Images from a completely different source</a:t>
                      </a:r>
                    </a:p>
                  </a:txBody>
                  <a:tcPr marL="54864" marR="36576" marT="0" marB="0" anchor="ctr">
                    <a:solidFill>
                      <a:srgbClr val="EEF2F6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60" b="1" i="0">
                          <a:solidFill>
                            <a:srgbClr val="1A1A1A"/>
                          </a:solidFill>
                          <a:latin typeface="Calibri"/>
                        </a:rPr>
                        <a:t>1.00</a:t>
                      </a:r>
                    </a:p>
                  </a:txBody>
                  <a:tcPr marL="54864" marR="36576" marT="0" marB="0" anchor="ctr">
                    <a:solidFill>
                      <a:srgbClr val="EEF2F6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60" b="0" i="0">
                          <a:solidFill>
                            <a:srgbClr val="1A1A1A"/>
                          </a:solidFill>
                          <a:latin typeface="Calibri"/>
                        </a:rPr>
                        <a:t>0.73 – 1.00</a:t>
                      </a:r>
                    </a:p>
                  </a:txBody>
                  <a:tcPr marL="54864" marR="36576" marT="0" marB="0" anchor="ctr">
                    <a:solidFill>
                      <a:srgbClr val="EEF2F6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60" b="0" i="0">
                          <a:solidFill>
                            <a:srgbClr val="1A1A1A"/>
                          </a:solidFill>
                          <a:latin typeface="Calibri"/>
                        </a:rPr>
                        <a:t>1.3%</a:t>
                      </a:r>
                    </a:p>
                  </a:txBody>
                  <a:tcPr marL="54864" marR="36576" marT="0" marB="0" anchor="ctr">
                    <a:solidFill>
                      <a:srgbClr val="EEF2F6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60" b="1" i="0">
                          <a:solidFill>
                            <a:srgbClr val="1A7F4B"/>
                          </a:solidFill>
                          <a:latin typeface="Calibri"/>
                        </a:rPr>
                        <a:t>strong</a:t>
                      </a:r>
                    </a:p>
                  </a:txBody>
                  <a:tcPr marL="54864" marR="36576" marT="0" marB="0" anchor="ctr">
                    <a:solidFill>
                      <a:srgbClr val="EEF2F6"/>
                    </a:solidFill>
                  </a:tcPr>
                </a:tc>
              </a:tr>
              <a:tr h="150876">
                <a:tc>
                  <a:txBody>
                    <a:bodyPr wrap="none"/>
                    <a:lstStyle/>
                    <a:p>
                      <a:pPr algn="l"/>
                      <a:r>
                        <a:rPr sz="960" b="0" i="0">
                          <a:solidFill>
                            <a:srgbClr val="1A1A1A"/>
                          </a:solidFill>
                          <a:latin typeface="Calibri"/>
                        </a:rPr>
                        <a:t>A marker pasted onto the image</a:t>
                      </a:r>
                    </a:p>
                  </a:txBody>
                  <a:tcPr marL="54864" marR="36576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60" b="1" i="0">
                          <a:solidFill>
                            <a:srgbClr val="1A1A1A"/>
                          </a:solidFill>
                          <a:latin typeface="Calibri"/>
                        </a:rPr>
                        <a:t>0.93</a:t>
                      </a:r>
                    </a:p>
                  </a:txBody>
                  <a:tcPr marL="54864" marR="36576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60" b="0" i="0">
                          <a:solidFill>
                            <a:srgbClr val="1A1A1A"/>
                          </a:solidFill>
                          <a:latin typeface="Calibri"/>
                        </a:rPr>
                        <a:t>0.67 – 1.00</a:t>
                      </a:r>
                    </a:p>
                  </a:txBody>
                  <a:tcPr marL="54864" marR="36576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60" b="0" i="0">
                          <a:solidFill>
                            <a:srgbClr val="1A1A1A"/>
                          </a:solidFill>
                          <a:latin typeface="Calibri"/>
                        </a:rPr>
                        <a:t>1.7%</a:t>
                      </a:r>
                    </a:p>
                  </a:txBody>
                  <a:tcPr marL="54864" marR="36576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60" b="1" i="0">
                          <a:solidFill>
                            <a:srgbClr val="1A7F4B"/>
                          </a:solidFill>
                          <a:latin typeface="Calibri"/>
                        </a:rPr>
                        <a:t>strong</a:t>
                      </a:r>
                    </a:p>
                  </a:txBody>
                  <a:tcPr marL="54864" marR="36576" marT="0" marB="0" anchor="ctr">
                    <a:solidFill>
                      <a:srgbClr val="FFFFFF"/>
                    </a:solidFill>
                  </a:tcPr>
                </a:tc>
              </a:tr>
              <a:tr h="150876">
                <a:tc>
                  <a:txBody>
                    <a:bodyPr wrap="none"/>
                    <a:lstStyle/>
                    <a:p>
                      <a:pPr algn="l"/>
                      <a:r>
                        <a:rPr sz="960" b="0" i="0">
                          <a:solidFill>
                            <a:srgbClr val="1A1A1A"/>
                          </a:solidFill>
                          <a:latin typeface="Calibri"/>
                        </a:rPr>
                        <a:t>The picture is fine, the label is wrong</a:t>
                      </a:r>
                    </a:p>
                  </a:txBody>
                  <a:tcPr marL="54864" marR="36576" marT="0" marB="0" anchor="ctr">
                    <a:solidFill>
                      <a:srgbClr val="EEF2F6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60" b="1" i="0">
                          <a:solidFill>
                            <a:srgbClr val="1A1A1A"/>
                          </a:solidFill>
                          <a:latin typeface="Calibri"/>
                        </a:rPr>
                        <a:t>0.93</a:t>
                      </a:r>
                    </a:p>
                  </a:txBody>
                  <a:tcPr marL="54864" marR="36576" marT="0" marB="0" anchor="ctr">
                    <a:solidFill>
                      <a:srgbClr val="EEF2F6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60" b="0" i="0">
                          <a:solidFill>
                            <a:srgbClr val="1A1A1A"/>
                          </a:solidFill>
                          <a:latin typeface="Calibri"/>
                        </a:rPr>
                        <a:t>0.83 – 1.00</a:t>
                      </a:r>
                    </a:p>
                  </a:txBody>
                  <a:tcPr marL="54864" marR="36576" marT="0" marB="0" anchor="ctr">
                    <a:solidFill>
                      <a:srgbClr val="EEF2F6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60" b="0" i="0">
                          <a:solidFill>
                            <a:srgbClr val="1A1A1A"/>
                          </a:solidFill>
                          <a:latin typeface="Calibri"/>
                        </a:rPr>
                        <a:t>1.0%</a:t>
                      </a:r>
                    </a:p>
                  </a:txBody>
                  <a:tcPr marL="54864" marR="36576" marT="0" marB="0" anchor="ctr">
                    <a:solidFill>
                      <a:srgbClr val="EEF2F6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60" b="1" i="0">
                          <a:solidFill>
                            <a:srgbClr val="1A7F4B"/>
                          </a:solidFill>
                          <a:latin typeface="Calibri"/>
                        </a:rPr>
                        <a:t>strong</a:t>
                      </a:r>
                    </a:p>
                  </a:txBody>
                  <a:tcPr marL="54864" marR="36576" marT="0" marB="0" anchor="ctr">
                    <a:solidFill>
                      <a:srgbClr val="EEF2F6"/>
                    </a:solidFill>
                  </a:tcPr>
                </a:tc>
              </a:tr>
              <a:tr h="150876">
                <a:tc>
                  <a:txBody>
                    <a:bodyPr wrap="none"/>
                    <a:lstStyle/>
                    <a:p>
                      <a:pPr algn="l"/>
                      <a:r>
                        <a:rPr sz="960" b="0" i="0">
                          <a:solidFill>
                            <a:srgbClr val="1A1A1A"/>
                          </a:solidFill>
                          <a:latin typeface="Calibri"/>
                        </a:rPr>
                        <a:t>A faint pattern over the whole image</a:t>
                      </a:r>
                    </a:p>
                  </a:txBody>
                  <a:tcPr marL="54864" marR="36576" marT="0" marB="0" anchor="ctr">
                    <a:solidFill>
                      <a:srgbClr val="FDF0EE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60" b="1" i="0">
                          <a:solidFill>
                            <a:srgbClr val="1A1A1A"/>
                          </a:solidFill>
                          <a:latin typeface="Calibri"/>
                        </a:rPr>
                        <a:t>0.20</a:t>
                      </a:r>
                    </a:p>
                  </a:txBody>
                  <a:tcPr marL="54864" marR="36576" marT="0" marB="0" anchor="ctr">
                    <a:solidFill>
                      <a:srgbClr val="FDF0EE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60" b="0" i="0">
                          <a:solidFill>
                            <a:srgbClr val="1A1A1A"/>
                          </a:solidFill>
                          <a:latin typeface="Calibri"/>
                        </a:rPr>
                        <a:t>0.00 – 0.67</a:t>
                      </a:r>
                    </a:p>
                  </a:txBody>
                  <a:tcPr marL="54864" marR="36576" marT="0" marB="0" anchor="ctr">
                    <a:solidFill>
                      <a:srgbClr val="FDF0EE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60" b="0" i="0">
                          <a:solidFill>
                            <a:srgbClr val="1A1A1A"/>
                          </a:solidFill>
                          <a:latin typeface="Calibri"/>
                        </a:rPr>
                        <a:t>1.1%</a:t>
                      </a:r>
                    </a:p>
                  </a:txBody>
                  <a:tcPr marL="54864" marR="36576" marT="0" marB="0" anchor="ctr">
                    <a:solidFill>
                      <a:srgbClr val="FDF0EE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60" b="1" i="0">
                          <a:solidFill>
                            <a:srgbClr val="C0392B"/>
                          </a:solidFill>
                          <a:latin typeface="Calibri"/>
                        </a:rPr>
                        <a:t>UNSUPPORTED</a:t>
                      </a:r>
                    </a:p>
                  </a:txBody>
                  <a:tcPr marL="54864" marR="36576" marT="0" marB="0" anchor="ctr">
                    <a:solidFill>
                      <a:srgbClr val="FDF0EE"/>
                    </a:solidFill>
                  </a:tcPr>
                </a:tc>
              </a:tr>
              <a:tr h="150876">
                <a:tc>
                  <a:txBody>
                    <a:bodyPr wrap="none"/>
                    <a:lstStyle/>
                    <a:p>
                      <a:pPr algn="l"/>
                      <a:r>
                        <a:rPr sz="960" b="0" i="0">
                          <a:solidFill>
                            <a:srgbClr val="1A1A1A"/>
                          </a:solidFill>
                          <a:latin typeface="Calibri"/>
                        </a:rPr>
                        <a:t>Any tampering with the inference log</a:t>
                      </a:r>
                    </a:p>
                  </a:txBody>
                  <a:tcPr marL="54864" marR="36576" marT="0" marB="0" anchor="ctr">
                    <a:solidFill>
                      <a:srgbClr val="EEF2F6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60" b="1" i="0">
                          <a:solidFill>
                            <a:srgbClr val="1A1A1A"/>
                          </a:solidFill>
                          <a:latin typeface="Calibri"/>
                        </a:rPr>
                        <a:t>1.00</a:t>
                      </a:r>
                    </a:p>
                  </a:txBody>
                  <a:tcPr marL="54864" marR="36576" marT="0" marB="0" anchor="ctr">
                    <a:solidFill>
                      <a:srgbClr val="EEF2F6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60" b="0" i="0">
                          <a:solidFill>
                            <a:srgbClr val="1A1A1A"/>
                          </a:solidFill>
                          <a:latin typeface="Calibri"/>
                        </a:rPr>
                        <a:t>proof, not an estimate</a:t>
                      </a:r>
                    </a:p>
                  </a:txBody>
                  <a:tcPr marL="54864" marR="36576" marT="0" marB="0" anchor="ctr">
                    <a:solidFill>
                      <a:srgbClr val="EEF2F6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60" b="0" i="0">
                          <a:solidFill>
                            <a:srgbClr val="1A1A1A"/>
                          </a:solidFill>
                          <a:latin typeface="Calibri"/>
                        </a:rPr>
                        <a:t>0.0%</a:t>
                      </a:r>
                    </a:p>
                  </a:txBody>
                  <a:tcPr marL="54864" marR="36576" marT="0" marB="0" anchor="ctr">
                    <a:solidFill>
                      <a:srgbClr val="EEF2F6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60" b="1" i="0">
                          <a:solidFill>
                            <a:srgbClr val="1A7F4B"/>
                          </a:solidFill>
                          <a:latin typeface="Calibri"/>
                        </a:rPr>
                        <a:t>strong</a:t>
                      </a:r>
                    </a:p>
                  </a:txBody>
                  <a:tcPr marL="54864" marR="36576" marT="0" marB="0" anchor="ctr">
                    <a:solidFill>
                      <a:srgbClr val="EEF2F6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eaLnBrk="1" hangingPunct="1" algn="ctr"/>
            <a:r>
              <a:rPr sz="2900" b="1" i="0">
                <a:solidFill>
                  <a:srgbClr val="13294B"/>
                </a:solidFill>
                <a:latin typeface="Cambria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1000" b="1" i="0">
                <a:solidFill>
                  <a:srgbClr val="13294B"/>
                </a:solidFill>
                <a:latin typeface="Calibri"/>
              </a:rPr>
              <a:t>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Oval 17409"/>
          <p:cNvSpPr/>
          <p:nvPr/>
        </p:nvSpPr>
        <p:spPr>
          <a:xfrm>
            <a:off x="329184" y="1129284"/>
            <a:ext cx="105156" cy="105156"/>
          </a:xfrm>
          <a:prstGeom prst="ellipse">
            <a:avLst/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1" name="TextBox 17410"/>
          <p:cNvSpPr txBox="1"/>
          <p:nvPr/>
        </p:nvSpPr>
        <p:spPr>
          <a:xfrm>
            <a:off x="521207" y="1078992"/>
            <a:ext cx="71231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3294B"/>
                </a:solidFill>
                <a:latin typeface="Cambria"/>
              </a:rPr>
              <a:t>What an analyst actually receives</a:t>
            </a:r>
          </a:p>
        </p:txBody>
      </p:sp>
      <p:pic>
        <p:nvPicPr>
          <p:cNvPr id="17412" name="Picture 17411" descr="shot_verdic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184" y="1371600"/>
            <a:ext cx="5897880" cy="858695"/>
          </a:xfrm>
          <a:prstGeom prst="rect">
            <a:avLst/>
          </a:prstGeom>
        </p:spPr>
      </p:pic>
      <p:sp>
        <p:nvSpPr>
          <p:cNvPr id="17413" name="TextBox 17412"/>
          <p:cNvSpPr txBox="1"/>
          <p:nvPr/>
        </p:nvSpPr>
        <p:spPr>
          <a:xfrm>
            <a:off x="329184" y="2304288"/>
            <a:ext cx="58978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5A6472"/>
                </a:solidFill>
                <a:latin typeface="Calibri"/>
              </a:rPr>
              <a:t>Real output. One offline HTML file — no dashboard to host, nothing to install on the analyst's machine.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329184" y="2615184"/>
            <a:ext cx="2971800" cy="2542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15" name="Picture 17414" descr="chart_contri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8056" y="2706624"/>
            <a:ext cx="2737001" cy="1965960"/>
          </a:xfrm>
          <a:prstGeom prst="rect">
            <a:avLst/>
          </a:prstGeom>
        </p:spPr>
      </p:pic>
      <p:sp>
        <p:nvSpPr>
          <p:cNvPr id="17416" name="TextBox 17415"/>
          <p:cNvSpPr txBox="1"/>
          <p:nvPr/>
        </p:nvSpPr>
        <p:spPr>
          <a:xfrm>
            <a:off x="402336" y="4754880"/>
            <a:ext cx="282549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5A6472"/>
                </a:solidFill>
                <a:latin typeface="Calibri"/>
              </a:rPr>
              <a:t>Bars: what we found.  Stars: the truth.</a:t>
            </a:r>
          </a:p>
        </p:txBody>
      </p:sp>
      <p:sp>
        <p:nvSpPr>
          <p:cNvPr id="17417" name="Rounded Rectangle 17416"/>
          <p:cNvSpPr/>
          <p:nvPr/>
        </p:nvSpPr>
        <p:spPr>
          <a:xfrm>
            <a:off x="3401568" y="2615184"/>
            <a:ext cx="3136392" cy="2542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18" name="Picture 17417" descr="chart_heatma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20440" y="2706624"/>
            <a:ext cx="2961482" cy="1965960"/>
          </a:xfrm>
          <a:prstGeom prst="rect">
            <a:avLst/>
          </a:prstGeom>
        </p:spPr>
      </p:pic>
      <p:sp>
        <p:nvSpPr>
          <p:cNvPr id="17419" name="TextBox 17418"/>
          <p:cNvSpPr txBox="1"/>
          <p:nvPr/>
        </p:nvSpPr>
        <p:spPr>
          <a:xfrm>
            <a:off x="3474720" y="4754880"/>
            <a:ext cx="299008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5A6472"/>
                </a:solidFill>
                <a:latin typeface="Calibri"/>
              </a:rPr>
              <a:t>What we did, against what was true.</a:t>
            </a:r>
          </a:p>
        </p:txBody>
      </p:sp>
      <p:sp>
        <p:nvSpPr>
          <p:cNvPr id="17420" name="Rounded Rectangle 17419"/>
          <p:cNvSpPr/>
          <p:nvPr/>
        </p:nvSpPr>
        <p:spPr>
          <a:xfrm>
            <a:off x="329184" y="5285232"/>
            <a:ext cx="6208776" cy="896112"/>
          </a:xfrm>
          <a:prstGeom prst="roundRect">
            <a:avLst/>
          </a:prstGeom>
          <a:solidFill>
            <a:srgbClr val="EEF2F6"/>
          </a:solidFill>
          <a:ln w="12700">
            <a:solidFill>
              <a:srgbClr val="5A64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1" name="TextBox 17420"/>
          <p:cNvSpPr txBox="1"/>
          <p:nvPr/>
        </p:nvSpPr>
        <p:spPr>
          <a:xfrm>
            <a:off x="475488" y="5376672"/>
            <a:ext cx="591616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60" b="1" i="0">
                <a:solidFill>
                  <a:srgbClr val="C0392B"/>
                </a:solidFill>
                <a:latin typeface="Calibri"/>
              </a:rPr>
              <a:t>Before:  </a:t>
            </a:r>
            <a:r>
              <a:rPr sz="1060" b="0" i="0">
                <a:solidFill>
                  <a:srgbClr val="1A1A1A"/>
                </a:solidFill>
                <a:latin typeface="Calibri"/>
              </a:rPr>
              <a:t>an analyst is handed 900 suspect image IDs and no way to rank them.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60" b="1" i="0">
                <a:solidFill>
                  <a:srgbClr val="1A7F4B"/>
                </a:solidFill>
                <a:latin typeface="Calibri"/>
              </a:rPr>
              <a:t>After:  </a:t>
            </a:r>
            <a:r>
              <a:rPr sz="1060" b="0" i="0">
                <a:solidFill>
                  <a:srgbClr val="1A1A1A"/>
                </a:solidFill>
                <a:latin typeface="Calibri"/>
              </a:rPr>
              <a:t>one line — quarantine Contributor C3, whose true poison rate was 51% and whom we scored 45% with a 36–54% interval.</a:t>
            </a:r>
          </a:p>
        </p:txBody>
      </p:sp>
      <p:sp>
        <p:nvSpPr>
          <p:cNvPr id="17422" name="Oval 17421"/>
          <p:cNvSpPr/>
          <p:nvPr/>
        </p:nvSpPr>
        <p:spPr>
          <a:xfrm>
            <a:off x="6656832" y="1129284"/>
            <a:ext cx="105156" cy="105156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3" name="TextBox 17422"/>
          <p:cNvSpPr txBox="1"/>
          <p:nvPr/>
        </p:nvSpPr>
        <p:spPr>
          <a:xfrm>
            <a:off x="6848856" y="1078992"/>
            <a:ext cx="502005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C7293"/>
                </a:solidFill>
                <a:latin typeface="Cambria"/>
              </a:rPr>
              <a:t>Potential impact on the target audience</a:t>
            </a:r>
          </a:p>
        </p:txBody>
      </p:sp>
      <p:sp>
        <p:nvSpPr>
          <p:cNvPr id="17424" name="Rounded Rectangle 17423"/>
          <p:cNvSpPr/>
          <p:nvPr/>
        </p:nvSpPr>
        <p:spPr>
          <a:xfrm>
            <a:off x="6656832" y="1371600"/>
            <a:ext cx="5202936" cy="1572768"/>
          </a:xfrm>
          <a:prstGeom prst="roundRect">
            <a:avLst/>
          </a:prstGeom>
          <a:solidFill>
            <a:srgbClr val="EEF2F6"/>
          </a:solidFill>
          <a:ln w="12700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5" name="TextBox 17424"/>
          <p:cNvSpPr txBox="1"/>
          <p:nvPr/>
        </p:nvSpPr>
        <p:spPr>
          <a:xfrm>
            <a:off x="6803136" y="1472184"/>
            <a:ext cx="4919472" cy="1389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80" b="1" i="0">
                <a:solidFill>
                  <a:srgbClr val="1C7293"/>
                </a:solidFill>
                <a:latin typeface="Calibri"/>
              </a:rPr>
              <a:t>▸ </a:t>
            </a:r>
            <a:r>
              <a:rPr sz="1080" b="1" i="0">
                <a:solidFill>
                  <a:srgbClr val="13294B"/>
                </a:solidFill>
                <a:latin typeface="Calibri"/>
              </a:rPr>
              <a:t>Intake officer</a:t>
            </a:r>
            <a:r>
              <a:rPr sz="1080" b="0" i="0">
                <a:solidFill>
                  <a:srgbClr val="1A1A1A"/>
                </a:solidFill>
                <a:latin typeface="Calibri"/>
              </a:rPr>
              <a:t> gets an order — 'quarantine Contributor D' — not 900 IDs to triage.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80" b="1" i="0">
                <a:solidFill>
                  <a:srgbClr val="1C7293"/>
                </a:solidFill>
                <a:latin typeface="Calibri"/>
              </a:rPr>
              <a:t>▸ </a:t>
            </a:r>
            <a:r>
              <a:rPr sz="1080" b="1" i="0">
                <a:solidFill>
                  <a:srgbClr val="13294B"/>
                </a:solidFill>
                <a:latin typeface="Calibri"/>
              </a:rPr>
              <a:t>Model reviewer</a:t>
            </a:r>
            <a:r>
              <a:rPr sz="1080" b="0" i="0">
                <a:solidFill>
                  <a:srgbClr val="1A1A1A"/>
                </a:solidFill>
                <a:latin typeface="Calibri"/>
              </a:rPr>
              <a:t> can prove a vendor model is the enrolled one, from its answers alone.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80" b="1" i="0">
                <a:solidFill>
                  <a:srgbClr val="1C7293"/>
                </a:solidFill>
                <a:latin typeface="Calibri"/>
              </a:rPr>
              <a:t>▸ </a:t>
            </a:r>
            <a:r>
              <a:rPr sz="1080" b="1" i="0">
                <a:solidFill>
                  <a:srgbClr val="13294B"/>
                </a:solidFill>
                <a:latin typeface="Calibri"/>
              </a:rPr>
              <a:t>Investigator</a:t>
            </a:r>
            <a:r>
              <a:rPr sz="1080" b="0" i="0">
                <a:solidFill>
                  <a:srgbClr val="1A1A1A"/>
                </a:solidFill>
                <a:latin typeface="Calibri"/>
              </a:rPr>
              <a:t> gets a named failure mode on the exact record that was edited.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80" b="1" i="0">
                <a:solidFill>
                  <a:srgbClr val="1C7293"/>
                </a:solidFill>
                <a:latin typeface="Calibri"/>
              </a:rPr>
              <a:t>▸ </a:t>
            </a:r>
            <a:r>
              <a:rPr sz="1080" b="1" i="0">
                <a:solidFill>
                  <a:srgbClr val="13294B"/>
                </a:solidFill>
                <a:latin typeface="Calibri"/>
              </a:rPr>
              <a:t>Commander</a:t>
            </a:r>
            <a:r>
              <a:rPr sz="1080" b="0" i="0">
                <a:solidFill>
                  <a:srgbClr val="1A1A1A"/>
                </a:solidFill>
                <a:latin typeface="Calibri"/>
              </a:rPr>
              <a:t> sees one traffic light, and an honest list of what was not checked.</a:t>
            </a:r>
          </a:p>
        </p:txBody>
      </p:sp>
      <p:sp>
        <p:nvSpPr>
          <p:cNvPr id="17426" name="Oval 17425"/>
          <p:cNvSpPr/>
          <p:nvPr/>
        </p:nvSpPr>
        <p:spPr>
          <a:xfrm>
            <a:off x="6656832" y="3122676"/>
            <a:ext cx="105156" cy="105156"/>
          </a:xfrm>
          <a:prstGeom prst="ellipse">
            <a:avLst/>
          </a:prstGeom>
          <a:solidFill>
            <a:srgbClr val="1A7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7" name="TextBox 17426"/>
          <p:cNvSpPr txBox="1"/>
          <p:nvPr/>
        </p:nvSpPr>
        <p:spPr>
          <a:xfrm>
            <a:off x="6848856" y="3072384"/>
            <a:ext cx="502005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A7F4B"/>
                </a:solidFill>
                <a:latin typeface="Cambria"/>
              </a:rPr>
              <a:t>Benefits of the solution</a:t>
            </a:r>
          </a:p>
        </p:txBody>
      </p:sp>
      <p:sp>
        <p:nvSpPr>
          <p:cNvPr id="17428" name="Rounded Rectangle 17427"/>
          <p:cNvSpPr/>
          <p:nvPr/>
        </p:nvSpPr>
        <p:spPr>
          <a:xfrm>
            <a:off x="6656832" y="3364992"/>
            <a:ext cx="5202936" cy="2542032"/>
          </a:xfrm>
          <a:prstGeom prst="roundRect">
            <a:avLst/>
          </a:prstGeom>
          <a:solidFill>
            <a:srgbClr val="EAF5EF"/>
          </a:solidFill>
          <a:ln w="12700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9" name="TextBox 17428"/>
          <p:cNvSpPr txBox="1"/>
          <p:nvPr/>
        </p:nvSpPr>
        <p:spPr>
          <a:xfrm>
            <a:off x="6803136" y="3465576"/>
            <a:ext cx="4919472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80" b="1" i="0">
                <a:solidFill>
                  <a:srgbClr val="1A7F4B"/>
                </a:solidFill>
                <a:latin typeface="Calibri"/>
              </a:rPr>
              <a:t>Operational  </a:t>
            </a:r>
            <a:r>
              <a:rPr sz="1080" b="0" i="0">
                <a:solidFill>
                  <a:srgbClr val="5A6472"/>
                </a:solidFill>
                <a:latin typeface="Calibri"/>
              </a:rPr>
              <a:t>·  </a:t>
            </a:r>
            <a:r>
              <a:rPr sz="1080" b="1" i="0">
                <a:solidFill>
                  <a:srgbClr val="13294B"/>
                </a:solidFill>
                <a:latin typeface="Calibri"/>
              </a:rPr>
              <a:t>Triage collapses</a:t>
            </a:r>
            <a:r>
              <a:rPr sz="1080" b="0" i="0">
                <a:solidFill>
                  <a:srgbClr val="1A1A1A"/>
                </a:solidFill>
                <a:latin typeface="Calibri"/>
              </a:rPr>
              <a:t> from every image to a handful of sources — minutes, not days.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80" b="1" i="0">
                <a:solidFill>
                  <a:srgbClr val="1A7F4B"/>
                </a:solidFill>
                <a:latin typeface="Calibri"/>
              </a:rPr>
              <a:t>Security  </a:t>
            </a:r>
            <a:r>
              <a:rPr sz="1080" b="0" i="0">
                <a:solidFill>
                  <a:srgbClr val="5A6472"/>
                </a:solidFill>
                <a:latin typeface="Calibri"/>
              </a:rPr>
              <a:t>·  </a:t>
            </a:r>
            <a:r>
              <a:rPr sz="1080" b="1" i="0">
                <a:solidFill>
                  <a:srgbClr val="13294B"/>
                </a:solidFill>
                <a:latin typeface="Calibri"/>
              </a:rPr>
              <a:t>Poisoned data and swapped models</a:t>
            </a:r>
            <a:r>
              <a:rPr sz="1080" b="0" i="0">
                <a:solidFill>
                  <a:srgbClr val="1A1A1A"/>
                </a:solidFill>
                <a:latin typeface="Calibri"/>
              </a:rPr>
              <a:t> are caught before they reach a model that guides a decision.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80" b="1" i="0">
                <a:solidFill>
                  <a:srgbClr val="1A7F4B"/>
                </a:solidFill>
                <a:latin typeface="Calibri"/>
              </a:rPr>
              <a:t>Legal / audit  </a:t>
            </a:r>
            <a:r>
              <a:rPr sz="1080" b="0" i="0">
                <a:solidFill>
                  <a:srgbClr val="5A6472"/>
                </a:solidFill>
                <a:latin typeface="Calibri"/>
              </a:rPr>
              <a:t>·  </a:t>
            </a:r>
            <a:r>
              <a:rPr sz="1080" b="1" i="0">
                <a:solidFill>
                  <a:srgbClr val="13294B"/>
                </a:solidFill>
                <a:latin typeface="Calibri"/>
              </a:rPr>
              <a:t>Every inference is provable</a:t>
            </a:r>
            <a:r>
              <a:rPr sz="1080" b="0" i="0">
                <a:solidFill>
                  <a:srgbClr val="1A1A1A"/>
                </a:solidFill>
                <a:latin typeface="Calibri"/>
              </a:rPr>
              <a:t> after the fact; the audit trail is itself tamper-evident.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80" b="1" i="0">
                <a:solidFill>
                  <a:srgbClr val="1A7F4B"/>
                </a:solidFill>
                <a:latin typeface="Calibri"/>
              </a:rPr>
              <a:t>Economic  </a:t>
            </a:r>
            <a:r>
              <a:rPr sz="1080" b="0" i="0">
                <a:solidFill>
                  <a:srgbClr val="5A6472"/>
                </a:solidFill>
                <a:latin typeface="Calibri"/>
              </a:rPr>
              <a:t>·  </a:t>
            </a:r>
            <a:r>
              <a:rPr sz="1080" b="1" i="0">
                <a:solidFill>
                  <a:srgbClr val="13294B"/>
                </a:solidFill>
                <a:latin typeface="Calibri"/>
              </a:rPr>
              <a:t>Contributions are salvaged, not binned</a:t>
            </a:r>
            <a:r>
              <a:rPr sz="1080" b="0" i="0">
                <a:solidFill>
                  <a:srgbClr val="1A1A1A"/>
                </a:solidFill>
                <a:latin typeface="Calibri"/>
              </a:rPr>
              <a:t> — quarantine one source instead of discarding a whole intake.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80" b="1" i="0">
                <a:solidFill>
                  <a:srgbClr val="1A7F4B"/>
                </a:solidFill>
                <a:latin typeface="Calibri"/>
              </a:rPr>
              <a:t>Ethical  </a:t>
            </a:r>
            <a:r>
              <a:rPr sz="1080" b="0" i="0">
                <a:solidFill>
                  <a:srgbClr val="5A6472"/>
                </a:solidFill>
                <a:latin typeface="Calibri"/>
              </a:rPr>
              <a:t>·  </a:t>
            </a:r>
            <a:r>
              <a:rPr sz="1080" b="1" i="0">
                <a:solidFill>
                  <a:srgbClr val="13294B"/>
                </a:solidFill>
                <a:latin typeface="Calibri"/>
              </a:rPr>
              <a:t>The system states its own limits</a:t>
            </a:r>
            <a:r>
              <a:rPr sz="1080" b="0" i="0">
                <a:solidFill>
                  <a:srgbClr val="1A1A1A"/>
                </a:solidFill>
                <a:latin typeface="Calibri"/>
              </a:rPr>
              <a:t> in every report, so nobody over-trusts a clean result.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eaLnBrk="1" hangingPunct="1" algn="ctr"/>
            <a:r>
              <a:rPr sz="2900" b="1" i="0">
                <a:solidFill>
                  <a:srgbClr val="13294B"/>
                </a:solidFill>
                <a:latin typeface="Cambria"/>
              </a:rPr>
              <a:t>RESEARCH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1000" b="1" i="0">
                <a:solidFill>
                  <a:srgbClr val="13294B"/>
                </a:solidFill>
                <a:latin typeface="Calibri"/>
              </a:rPr>
              <a:t>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Oval 17409"/>
          <p:cNvSpPr/>
          <p:nvPr/>
        </p:nvSpPr>
        <p:spPr>
          <a:xfrm>
            <a:off x="329184" y="1110995"/>
            <a:ext cx="105156" cy="105156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1" name="TextBox 17410"/>
          <p:cNvSpPr txBox="1"/>
          <p:nvPr/>
        </p:nvSpPr>
        <p:spPr>
          <a:xfrm>
            <a:off x="521207" y="1060704"/>
            <a:ext cx="547725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C0392B"/>
                </a:solidFill>
                <a:latin typeface="Cambria"/>
              </a:rPr>
              <a:t>Attack literature we test against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329184" y="1353312"/>
            <a:ext cx="5669280" cy="1645920"/>
          </a:xfrm>
          <a:prstGeom prst="roundRect">
            <a:avLst/>
          </a:prstGeom>
          <a:solidFill>
            <a:srgbClr val="FDF0EE"/>
          </a:solidFill>
          <a:ln w="12700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3" name="TextBox 17412"/>
          <p:cNvSpPr txBox="1"/>
          <p:nvPr/>
        </p:nvSpPr>
        <p:spPr>
          <a:xfrm>
            <a:off x="493776" y="1453896"/>
            <a:ext cx="5358384" cy="1481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40" b="1" i="0">
                <a:solidFill>
                  <a:srgbClr val="13294B"/>
                </a:solidFill>
                <a:latin typeface="Calibri"/>
              </a:rPr>
              <a:t>BadNets</a:t>
            </a:r>
            <a:r>
              <a:rPr sz="1040" b="0" i="0">
                <a:solidFill>
                  <a:srgbClr val="1A1A1A"/>
                </a:solidFill>
                <a:latin typeface="Calibri"/>
              </a:rPr>
              <a:t> — Gu, Dolan-Gavitt &amp; Garg, 2017. Patch triggers.  arXiv:1708.06733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40" b="1" i="0">
                <a:solidFill>
                  <a:srgbClr val="13294B"/>
                </a:solidFill>
                <a:latin typeface="Calibri"/>
              </a:rPr>
              <a:t>Blended / invisible triggers</a:t>
            </a:r>
            <a:r>
              <a:rPr sz="1040" b="0" i="0">
                <a:solidFill>
                  <a:srgbClr val="1A1A1A"/>
                </a:solidFill>
                <a:latin typeface="Calibri"/>
              </a:rPr>
              <a:t> — Chen et al., 2017. The attack we measure worst on.  arXiv:1712.05526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40" b="1" i="0">
                <a:solidFill>
                  <a:srgbClr val="13294B"/>
                </a:solidFill>
                <a:latin typeface="Calibri"/>
              </a:rPr>
              <a:t>Spectral Signatures</a:t>
            </a:r>
            <a:r>
              <a:rPr sz="1040" b="0" i="0">
                <a:solidFill>
                  <a:srgbClr val="1A1A1A"/>
                </a:solidFill>
                <a:latin typeface="Calibri"/>
              </a:rPr>
              <a:t> — Tran, Li &amp; Madry, NeurIPS 2018. Our tier-2 check.  arXiv:1811.00636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40" b="1" i="0">
                <a:solidFill>
                  <a:srgbClr val="13294B"/>
                </a:solidFill>
                <a:latin typeface="Calibri"/>
              </a:rPr>
              <a:t>Neural Cleanse</a:t>
            </a:r>
            <a:r>
              <a:rPr sz="1040" b="0" i="0">
                <a:solidFill>
                  <a:srgbClr val="1A1A1A"/>
                </a:solidFill>
                <a:latin typeface="Calibri"/>
              </a:rPr>
              <a:t> — Wang et al., IEEE S&amp;P 2019. Trigger reconstruction, MAD anomaly index.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40" b="1" i="0">
                <a:solidFill>
                  <a:srgbClr val="13294B"/>
                </a:solidFill>
                <a:latin typeface="Calibri"/>
              </a:rPr>
              <a:t>Dataset poisoning survey</a:t>
            </a:r>
            <a:r>
              <a:rPr sz="1040" b="0" i="0">
                <a:solidFill>
                  <a:srgbClr val="1A1A1A"/>
                </a:solidFill>
                <a:latin typeface="Calibri"/>
              </a:rPr>
              <a:t> — Goldblum et al., TPAMI 2023. Multi-contributor threat model.</a:t>
            </a:r>
          </a:p>
        </p:txBody>
      </p:sp>
      <p:sp>
        <p:nvSpPr>
          <p:cNvPr id="17414" name="Oval 17413"/>
          <p:cNvSpPr/>
          <p:nvPr/>
        </p:nvSpPr>
        <p:spPr>
          <a:xfrm>
            <a:off x="329184" y="3159252"/>
            <a:ext cx="105156" cy="105156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5" name="TextBox 17414"/>
          <p:cNvSpPr txBox="1"/>
          <p:nvPr/>
        </p:nvSpPr>
        <p:spPr>
          <a:xfrm>
            <a:off x="521207" y="3108960"/>
            <a:ext cx="547725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C7293"/>
                </a:solidFill>
                <a:latin typeface="Cambria"/>
              </a:rPr>
              <a:t>Methods and standards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329184" y="3401568"/>
            <a:ext cx="5669280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7" name="TextBox 17416"/>
          <p:cNvSpPr txBox="1"/>
          <p:nvPr/>
        </p:nvSpPr>
        <p:spPr>
          <a:xfrm>
            <a:off x="493776" y="3502152"/>
            <a:ext cx="5358384" cy="11338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40" b="1" i="0">
                <a:solidFill>
                  <a:srgbClr val="13294B"/>
                </a:solidFill>
                <a:latin typeface="Calibri"/>
              </a:rPr>
              <a:t>Ed25519</a:t>
            </a:r>
            <a:r>
              <a:rPr sz="1040" b="0" i="0">
                <a:solidFill>
                  <a:srgbClr val="1A1A1A"/>
                </a:solidFill>
                <a:latin typeface="Calibri"/>
              </a:rPr>
              <a:t> — RFC 8032. Keys generated locally, never transmitted.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40" b="1" i="0">
                <a:solidFill>
                  <a:srgbClr val="13294B"/>
                </a:solidFill>
                <a:latin typeface="Calibri"/>
              </a:rPr>
              <a:t>Isotonic calibration</a:t>
            </a:r>
            <a:r>
              <a:rPr sz="1040" b="0" i="0">
                <a:solidFill>
                  <a:srgbClr val="1A1A1A"/>
                </a:solidFill>
                <a:latin typeface="Calibri"/>
              </a:rPr>
              <a:t> — Zadrozny &amp; Elkan, KDD 2002. Score → probability.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40" b="1" i="0">
                <a:solidFill>
                  <a:srgbClr val="13294B"/>
                </a:solidFill>
                <a:latin typeface="Calibri"/>
              </a:rPr>
              <a:t>Benjamini–Hochberg</a:t>
            </a:r>
            <a:r>
              <a:rPr sz="1040" b="0" i="0">
                <a:solidFill>
                  <a:srgbClr val="1A1A1A"/>
                </a:solidFill>
                <a:latin typeface="Calibri"/>
              </a:rPr>
              <a:t> — JRSS-B 1995. Controls false alarms across the nine shift measurements.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40" b="1" i="0">
                <a:solidFill>
                  <a:srgbClr val="13294B"/>
                </a:solidFill>
                <a:latin typeface="Calibri"/>
              </a:rPr>
              <a:t>COCO / YOLO</a:t>
            </a:r>
            <a:r>
              <a:rPr sz="1040" b="0" i="0">
                <a:solidFill>
                  <a:srgbClr val="1A1A1A"/>
                </a:solidFill>
                <a:latin typeface="Calibri"/>
              </a:rPr>
              <a:t> — Lin et al., ECCV 2014; Ultralytics data.yaml. Both ingest formats PS 2.2.6 requires.</a:t>
            </a:r>
          </a:p>
        </p:txBody>
      </p:sp>
      <p:sp>
        <p:nvSpPr>
          <p:cNvPr id="17418" name="Oval 17417"/>
          <p:cNvSpPr/>
          <p:nvPr/>
        </p:nvSpPr>
        <p:spPr>
          <a:xfrm>
            <a:off x="329184" y="4860036"/>
            <a:ext cx="105156" cy="105156"/>
          </a:xfrm>
          <a:prstGeom prst="ellipse">
            <a:avLst/>
          </a:prstGeom>
          <a:solidFill>
            <a:srgbClr val="B06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9" name="TextBox 17418"/>
          <p:cNvSpPr txBox="1"/>
          <p:nvPr/>
        </p:nvSpPr>
        <p:spPr>
          <a:xfrm>
            <a:off x="521207" y="4809744"/>
            <a:ext cx="547725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B06F00"/>
                </a:solidFill>
                <a:latin typeface="Cambria"/>
              </a:rPr>
              <a:t>Datasets</a:t>
            </a:r>
          </a:p>
        </p:txBody>
      </p:sp>
      <p:sp>
        <p:nvSpPr>
          <p:cNvPr id="17420" name="Rounded Rectangle 17419"/>
          <p:cNvSpPr/>
          <p:nvPr/>
        </p:nvSpPr>
        <p:spPr>
          <a:xfrm>
            <a:off x="329184" y="5102352"/>
            <a:ext cx="5669280" cy="658368"/>
          </a:xfrm>
          <a:prstGeom prst="roundRect">
            <a:avLst/>
          </a:prstGeom>
          <a:solidFill>
            <a:srgbClr val="FFF8EC"/>
          </a:solidFill>
          <a:ln w="12700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1" name="TextBox 17420"/>
          <p:cNvSpPr txBox="1"/>
          <p:nvPr/>
        </p:nvSpPr>
        <p:spPr>
          <a:xfrm>
            <a:off x="493776" y="5193792"/>
            <a:ext cx="5358384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40" b="0" i="0">
                <a:solidFill>
                  <a:srgbClr val="1A1A1A"/>
                </a:solidFill>
                <a:latin typeface="Calibri"/>
              </a:rPr>
              <a:t>SYNTH-10 — procedural, ships with the repo so every result reproduces air-gapped  ·  CIFAR-10  ·  GTSRB  ·  VisDrone / DOTA subset, in both COCO and YOLO form.</a:t>
            </a:r>
          </a:p>
        </p:txBody>
      </p:sp>
      <p:sp>
        <p:nvSpPr>
          <p:cNvPr id="17422" name="Oval 17421"/>
          <p:cNvSpPr/>
          <p:nvPr/>
        </p:nvSpPr>
        <p:spPr>
          <a:xfrm>
            <a:off x="6446520" y="1110995"/>
            <a:ext cx="105156" cy="105156"/>
          </a:xfrm>
          <a:prstGeom prst="ellipse">
            <a:avLst/>
          </a:prstGeom>
          <a:solidFill>
            <a:srgbClr val="1A7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3" name="TextBox 17422"/>
          <p:cNvSpPr txBox="1"/>
          <p:nvPr/>
        </p:nvSpPr>
        <p:spPr>
          <a:xfrm>
            <a:off x="6638544" y="1060704"/>
            <a:ext cx="52029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A7F4B"/>
                </a:solidFill>
                <a:latin typeface="Cambria"/>
              </a:rPr>
              <a:t>Our own measured results</a:t>
            </a:r>
          </a:p>
        </p:txBody>
      </p:sp>
      <p:sp>
        <p:nvSpPr>
          <p:cNvPr id="17424" name="Rounded Rectangle 17423"/>
          <p:cNvSpPr/>
          <p:nvPr/>
        </p:nvSpPr>
        <p:spPr>
          <a:xfrm>
            <a:off x="6446520" y="1353312"/>
            <a:ext cx="5413248" cy="24871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25" name="Picture 17424" descr="chart_cali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5392" y="1444752"/>
            <a:ext cx="2392890" cy="2084831"/>
          </a:xfrm>
          <a:prstGeom prst="rect">
            <a:avLst/>
          </a:prstGeom>
        </p:spPr>
      </p:pic>
      <p:sp>
        <p:nvSpPr>
          <p:cNvPr id="17426" name="TextBox 17425"/>
          <p:cNvSpPr txBox="1"/>
          <p:nvPr/>
        </p:nvSpPr>
        <p:spPr>
          <a:xfrm>
            <a:off x="9162288" y="1517904"/>
            <a:ext cx="2578608" cy="19385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80" b="1" i="0">
                <a:solidFill>
                  <a:srgbClr val="13294B"/>
                </a:solidFill>
                <a:latin typeface="Calibri"/>
              </a:rPr>
              <a:t>Calibration works.</a:t>
            </a:r>
            <a:r>
              <a:rPr sz="980" b="0" i="0">
                <a:solidFill>
                  <a:srgbClr val="1A1A1A"/>
                </a:solidFill>
                <a:latin typeface="Calibri"/>
              </a:rPr>
              <a:t> Expected Calibration Error falls from 0.277 to 0.079 once the combined score is calibrated as a quantity in its own right.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80" b="1" i="0">
                <a:solidFill>
                  <a:srgbClr val="13294B"/>
                </a:solidFill>
                <a:latin typeface="Calibri"/>
              </a:rPr>
              <a:t>Sanity-checked first.</a:t>
            </a:r>
            <a:r>
              <a:rPr sz="980" b="0" i="0">
                <a:solidFill>
                  <a:srgbClr val="1A1A1A"/>
                </a:solidFill>
                <a:latin typeface="Calibri"/>
              </a:rPr>
              <a:t> Random scores must give AUROC 0.5, perfect scores 1.0 — both are tests, written before any detector existed.</a:t>
            </a:r>
          </a:p>
        </p:txBody>
      </p:sp>
      <p:sp>
        <p:nvSpPr>
          <p:cNvPr id="17427" name="TextBox 17426"/>
          <p:cNvSpPr txBox="1"/>
          <p:nvPr/>
        </p:nvSpPr>
        <p:spPr>
          <a:xfrm>
            <a:off x="6583680" y="3547872"/>
            <a:ext cx="513892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80" b="0" i="1">
                <a:solidFill>
                  <a:srgbClr val="5A6472"/>
                </a:solidFill>
                <a:latin typeface="Calibri"/>
              </a:rPr>
              <a:t>Every headline number carries a bootstrap 95% interval; every swept cell runs at three seeds.</a:t>
            </a:r>
          </a:p>
        </p:txBody>
      </p:sp>
      <p:sp>
        <p:nvSpPr>
          <p:cNvPr id="17428" name="Oval 17427"/>
          <p:cNvSpPr/>
          <p:nvPr/>
        </p:nvSpPr>
        <p:spPr>
          <a:xfrm>
            <a:off x="6446520" y="4018787"/>
            <a:ext cx="105156" cy="105156"/>
          </a:xfrm>
          <a:prstGeom prst="ellipse">
            <a:avLst/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9" name="TextBox 17428"/>
          <p:cNvSpPr txBox="1"/>
          <p:nvPr/>
        </p:nvSpPr>
        <p:spPr>
          <a:xfrm>
            <a:off x="6638544" y="3968496"/>
            <a:ext cx="52029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3294B"/>
                </a:solidFill>
                <a:latin typeface="Cambria"/>
              </a:rPr>
              <a:t>Repository and reproduction</a:t>
            </a:r>
          </a:p>
        </p:txBody>
      </p:sp>
      <p:sp>
        <p:nvSpPr>
          <p:cNvPr id="17430" name="Rounded Rectangle 17429"/>
          <p:cNvSpPr/>
          <p:nvPr/>
        </p:nvSpPr>
        <p:spPr>
          <a:xfrm>
            <a:off x="6446520" y="4261104"/>
            <a:ext cx="5413248" cy="1499616"/>
          </a:xfrm>
          <a:prstGeom prst="roundRect">
            <a:avLst/>
          </a:prstGeom>
          <a:solidFill>
            <a:srgbClr val="EEF2F6"/>
          </a:solidFill>
          <a:ln w="12700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31" name="TextBox 17430"/>
          <p:cNvSpPr txBox="1"/>
          <p:nvPr/>
        </p:nvSpPr>
        <p:spPr>
          <a:xfrm>
            <a:off x="6601968" y="4361688"/>
            <a:ext cx="5102352" cy="1316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60" b="1" i="0">
                <a:solidFill>
                  <a:srgbClr val="13294B"/>
                </a:solidFill>
                <a:latin typeface="Calibri"/>
              </a:rPr>
              <a:t>make reproduce</a:t>
            </a:r>
            <a:r>
              <a:rPr sz="1060" b="0" i="0">
                <a:solidFill>
                  <a:srgbClr val="1A1A1A"/>
                </a:solidFill>
                <a:latin typeface="Calibri"/>
              </a:rPr>
              <a:t>  regenerates every number and figure from scratch, offline.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60" b="1" i="0">
                <a:solidFill>
                  <a:srgbClr val="13294B"/>
                </a:solidFill>
                <a:latin typeface="Calibri"/>
              </a:rPr>
              <a:t>make verify</a:t>
            </a:r>
            <a:r>
              <a:rPr sz="1060" b="0" i="0">
                <a:solidFill>
                  <a:srgbClr val="1A1A1A"/>
                </a:solidFill>
                <a:latin typeface="Calibri"/>
              </a:rPr>
              <a:t>  runs 273 tests plus the assertion that nothing touched the network.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60" b="1" i="0">
                <a:solidFill>
                  <a:srgbClr val="13294B"/>
                </a:solidFill>
                <a:latin typeface="Calibri"/>
              </a:rPr>
              <a:t>make demo</a:t>
            </a:r>
            <a:r>
              <a:rPr sz="1060" b="0" i="0">
                <a:solidFill>
                  <a:srgbClr val="1A1A1A"/>
                </a:solidFill>
                <a:latin typeface="Calibri"/>
              </a:rPr>
              <a:t>  the four-minute judge sequence, laptop in airplane mode.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80" b="0" i="1">
                <a:solidFill>
                  <a:srgbClr val="5A6472"/>
                </a:solidFill>
                <a:latin typeface="Calibri"/>
              </a:rPr>
              <a:t>Full source, the seeded attack harness and all four results tables ship in the repository.</a:t>
            </a:r>
          </a:p>
        </p:txBody>
      </p:sp>
      <p:sp>
        <p:nvSpPr>
          <p:cNvPr id="17432" name="TextBox 17431"/>
          <p:cNvSpPr txBox="1"/>
          <p:nvPr/>
        </p:nvSpPr>
        <p:spPr>
          <a:xfrm>
            <a:off x="329184" y="5888736"/>
            <a:ext cx="14173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40" b="1" i="0">
                <a:solidFill>
                  <a:srgbClr val="13294B"/>
                </a:solidFill>
                <a:latin typeface="Cambria"/>
              </a:rPr>
              <a:t>PS 26228 covered:</a:t>
            </a:r>
          </a:p>
        </p:txBody>
      </p:sp>
      <p:sp>
        <p:nvSpPr>
          <p:cNvPr id="17433" name="Rounded Rectangle 17432"/>
          <p:cNvSpPr/>
          <p:nvPr/>
        </p:nvSpPr>
        <p:spPr>
          <a:xfrm>
            <a:off x="1773936" y="5870448"/>
            <a:ext cx="1450238" cy="274320"/>
          </a:xfrm>
          <a:prstGeom prst="roundRect">
            <a:avLst>
              <a:gd name="adj" fmla="val 50000"/>
            </a:avLst>
          </a:prstGeom>
          <a:solidFill>
            <a:srgbClr val="1A7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✓  2.2.1  data integrity</a:t>
            </a:r>
          </a:p>
        </p:txBody>
      </p:sp>
      <p:sp>
        <p:nvSpPr>
          <p:cNvPr id="17434" name="Rounded Rectangle 17433"/>
          <p:cNvSpPr/>
          <p:nvPr/>
        </p:nvSpPr>
        <p:spPr>
          <a:xfrm>
            <a:off x="3297326" y="5870448"/>
            <a:ext cx="1510588" cy="274320"/>
          </a:xfrm>
          <a:prstGeom prst="roundRect">
            <a:avLst>
              <a:gd name="adj" fmla="val 50000"/>
            </a:avLst>
          </a:prstGeom>
          <a:solidFill>
            <a:srgbClr val="1A7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✓  2.2.2  model integrity</a:t>
            </a:r>
          </a:p>
        </p:txBody>
      </p:sp>
      <p:sp>
        <p:nvSpPr>
          <p:cNvPr id="17435" name="Rounded Rectangle 17434"/>
          <p:cNvSpPr/>
          <p:nvPr/>
        </p:nvSpPr>
        <p:spPr>
          <a:xfrm>
            <a:off x="4881067" y="5870448"/>
            <a:ext cx="1208836" cy="274320"/>
          </a:xfrm>
          <a:prstGeom prst="roundRect">
            <a:avLst>
              <a:gd name="adj" fmla="val 50000"/>
            </a:avLst>
          </a:prstGeom>
          <a:solidFill>
            <a:srgbClr val="1A7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✓  2.2.3  provenance</a:t>
            </a:r>
          </a:p>
        </p:txBody>
      </p:sp>
      <p:sp>
        <p:nvSpPr>
          <p:cNvPr id="17436" name="Rounded Rectangle 17435"/>
          <p:cNvSpPr/>
          <p:nvPr/>
        </p:nvSpPr>
        <p:spPr>
          <a:xfrm>
            <a:off x="6163056" y="5870448"/>
            <a:ext cx="1751990" cy="274320"/>
          </a:xfrm>
          <a:prstGeom prst="roundRect">
            <a:avLst>
              <a:gd name="adj" fmla="val 50000"/>
            </a:avLst>
          </a:prstGeom>
          <a:solidFill>
            <a:srgbClr val="1A7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✓  2.2.4  calibration + shift</a:t>
            </a:r>
          </a:p>
        </p:txBody>
      </p:sp>
      <p:sp>
        <p:nvSpPr>
          <p:cNvPr id="17437" name="Rounded Rectangle 17436"/>
          <p:cNvSpPr/>
          <p:nvPr/>
        </p:nvSpPr>
        <p:spPr>
          <a:xfrm>
            <a:off x="7988198" y="5870448"/>
            <a:ext cx="1450238" cy="274320"/>
          </a:xfrm>
          <a:prstGeom prst="roundRect">
            <a:avLst>
              <a:gd name="adj" fmla="val 50000"/>
            </a:avLst>
          </a:prstGeom>
          <a:solidFill>
            <a:srgbClr val="1A7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✓  2.2.5  analyst report</a:t>
            </a:r>
          </a:p>
        </p:txBody>
      </p:sp>
      <p:sp>
        <p:nvSpPr>
          <p:cNvPr id="17438" name="Rounded Rectangle 17437"/>
          <p:cNvSpPr/>
          <p:nvPr/>
        </p:nvSpPr>
        <p:spPr>
          <a:xfrm>
            <a:off x="9511588" y="5870448"/>
            <a:ext cx="2114092" cy="274320"/>
          </a:xfrm>
          <a:prstGeom prst="roundRect">
            <a:avLst>
              <a:gd name="adj" fmla="val 50000"/>
            </a:avLst>
          </a:prstGeom>
          <a:solidFill>
            <a:srgbClr val="1A7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✓  2.2.6  formats · tiers · offline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